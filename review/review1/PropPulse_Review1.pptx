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OPENING (15 s, Speaker 1): Good morning. We are team PropPulse. Our project is an end-to-end machine-learning platform that estimates a home's sale price, its probability of selling within 30 days, and the micro-market segment it belongs to — for residential real estate in Ames, Iowa. REPLACE the placeholder names/roll numbers, guide, and institute on this slide before the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1 (~45 s): State the problem — property valuation is opaque and existing tools don't explain their estimates. Our system answers three questions per property: how much, how fast, and which micro-market — and it explains every answer. Emphasize the product requirement: a working API and dashboard, not just a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1 (~40 s): Read the abstract at a high level — do not read it verbatim. Key beats: (1) three predictions per property, (2) honest, leakage-safe methodology with a sealed test set, (3) a full product stack. Close with: today's review covers the problem, the completed EDA, and our git repository.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2 (~40 s): Six objectives — O1 and O2 are DONE and are the subject of this review; O3–O6 are in progress/completed per repo status. Be upfront about the two documented data gaps (coordinates, days-on-market) — reviewers appreciate honesty.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2 (~45 s): The dataset is the standard Ames benchmark — cite De Cock 2011. Stress the TIME-BASED split: we never shuffle across time, and the 2010 test split is sealed. Cleaning follows the official data description — most ‘missing’ values mean the feature is absent, so only LotFrontage is genuinely imputed.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3 (~45 s): First EDA finding — the target itself. Raw prices are heavily right-skewed with a premium tail to $755k; after log1p the distribution is nearly symmetric. That is why the model trains on log-price and we use RMSLE as the primary metric. Dollar-per-sqft is tight, so most of the skew is just house size.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3 (~50 s): OverallQual is the single strongest feature (r = 0.79) — the quality ladder is roughly exponential in dollars, which again supports the log target. Then the size block. Our engineered amenity_count already correlates at 0.61. Flag the multicollinearity inside the size block — it motivates regularization and grouped importance reading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4 (~50 s): Left — all 25 neighborhoods sorted by median price: a 3.18× spread. Right — the geo scatter colored by $/sqft: premium areas sit in the north/northwest, and distance to downtown explains almost nothing (r = +0.28). Conclusion: location value lives in neighborhood identity — this justifies both the train-only neighborhood statistics and the DBSCAN micro-market clustering. Caution: rare neighborhoods (Blueste n=1) have noisy stats.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4 (~50 s): Missingness: 19 columns, but per the official data description almost all NAs mean the feature is ABSENT — filled as ‘None’, not imputed. The only genuine measurement gap is LotFrontage. Outliers: exactly two partial sales removed on train (verified SaleCondition=Partial); the 39 high-price rows above the IQR fence are genuine luxury stock — we keep them because blind trimming would destroy the high-end signal.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4 (~40 s): Seasonality is a VOLUME effect, not a price effect — and prices are flat 2006→2008 (+0.6%), so our time-based split faces no distribution shock. Right: the simulated days-on-market target — median 41 days, 25.3% fast sales. Reminder: this target is simulated and every classification metric will be labelled as such; modeling must handle the class imbalance.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5 (~40 s): Every EDA finding maps to a concrete design decision. Walk the six quickly: log target; trees plus a regularized linear baseline; expected feature hierarchy; the four hard leakage rules; imbalance-aware classification; and the neighborhood grain for clustering. This slide is the bridge from analysis to the build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5 (~45 s): Everything shown today is in the git repository — give the URL. The EDA notebook is fully executed and reproducible end-to-end; the report and all 14 figures are committed. Engineering hygiene: hundreds of automated tests, CI, Docker, and every design decision recorded as an ADR. Walk the layout briefly if asked.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5 (~30 s): Close with the plan — EDA and repository are complete; next is model training and champion selection, then the serving layer. Thank the panel and invite questions. TOTAL: ~5 minutes across the five speakers.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61488"/>
            <a:ext cx="12191695" cy="38100"/>
          </a:xfrm>
          <a:prstGeom prst="rect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BDD0EA"/>
                </a:solidFill>
                <a:latin typeface="Calibri"/>
              </a:rPr>
              <a:t>PROJECT REVIEW 1  •  August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6000" b="1" i="0">
                <a:solidFill>
                  <a:srgbClr val="FFFFFF"/>
                </a:solidFill>
                <a:latin typeface="Calibri"/>
              </a:rPr>
              <a:t>PropPulse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317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D9E2F3"/>
                </a:solidFill>
                <a:latin typeface="Calibri"/>
              </a:rPr>
              <a:t>ML-Driven Property Valuation &amp; Market Intelligence for Residential Real Estate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154680"/>
            <a:ext cx="694944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Member 1 Name   </a:t>
            </a:r>
            <a:r>
              <a:rPr sz="1400" b="0" i="0">
                <a:solidFill>
                  <a:srgbClr val="BDD0EA"/>
                </a:solidFill>
                <a:latin typeface="Calibri"/>
              </a:rPr>
              <a:t>Roll No. 1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Member 2 Name   </a:t>
            </a:r>
            <a:r>
              <a:rPr sz="1400" b="0" i="0">
                <a:solidFill>
                  <a:srgbClr val="BDD0EA"/>
                </a:solidFill>
                <a:latin typeface="Calibri"/>
              </a:rPr>
              <a:t>Roll No. 2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Member 3 Name   </a:t>
            </a:r>
            <a:r>
              <a:rPr sz="1400" b="0" i="0">
                <a:solidFill>
                  <a:srgbClr val="BDD0EA"/>
                </a:solidFill>
                <a:latin typeface="Calibri"/>
              </a:rPr>
              <a:t>Roll No. 3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Member 4 Name   </a:t>
            </a:r>
            <a:r>
              <a:rPr sz="1400" b="0" i="0">
                <a:solidFill>
                  <a:srgbClr val="BDD0EA"/>
                </a:solidFill>
                <a:latin typeface="Calibri"/>
              </a:rPr>
              <a:t>Roll No. 4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Member 5 Name   </a:t>
            </a:r>
            <a:r>
              <a:rPr sz="1400" b="0" i="0">
                <a:solidFill>
                  <a:srgbClr val="BDD0EA"/>
                </a:solidFill>
                <a:latin typeface="Calibri"/>
              </a:rPr>
              <a:t>Roll No.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62356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BDD0EA"/>
                </a:solidFill>
                <a:latin typeface="Calibri"/>
              </a:rPr>
              <a:t>Under the guidance of </a:t>
            </a:r>
            <a:r>
              <a:rPr sz="1400" b="1" i="0">
                <a:solidFill>
                  <a:srgbClr val="FFFFFF"/>
                </a:solidFill>
                <a:latin typeface="Calibri"/>
              </a:rPr>
              <a:t>Guide Name, Designation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9893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BDD0EA"/>
                </a:solidFill>
                <a:latin typeface="Calibri"/>
              </a:rPr>
              <a:t>Department of Computer Science &amp; Engineering  •  Institute Name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3154680"/>
            <a:ext cx="30175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BF8F00"/>
                </a:solidFill>
                <a:latin typeface="Calibri"/>
              </a:rPr>
              <a:t>Repository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github.com/rushmanthnalluri/prop-pulse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BDD0EA"/>
                </a:solidFill>
                <a:latin typeface="Calibri"/>
              </a:rPr>
              <a:t>Dataset: Ames, Iowa (Kaggle)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95959"/>
                </a:solidFill>
                <a:latin typeface="Calibri"/>
              </a:rPr>
              <a:t>PropPulse — Project Review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92840" y="6473952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95959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91695" cy="38100"/>
          </a:xfrm>
          <a:prstGeom prst="rect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247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BDD0EA"/>
                </a:solidFill>
                <a:latin typeface="Calibri"/>
              </a:rPr>
              <a:t>SPEAKER 1 • ~45 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2471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111556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Aft>
                <a:spcPts val="800"/>
              </a:spcAft>
            </a:pPr>
            <a:r>
              <a:rPr sz="1700" b="1">
                <a:solidFill>
                  <a:srgbClr val="2E75B6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262626"/>
                </a:solidFill>
                <a:latin typeface="Calibri"/>
              </a:rPr>
              <a:t>Residential property pricing is opaque. </a:t>
            </a:r>
            <a:r>
              <a:rPr sz="1700" b="0" i="0">
                <a:solidFill>
                  <a:srgbClr val="262626"/>
                </a:solidFill>
                <a:latin typeface="Calibri"/>
              </a:rPr>
              <a:t>Buyers, sellers and agents rely on rules of thumb; online estimates rarely explain </a:t>
            </a:r>
            <a:r>
              <a:rPr sz="1700" b="0" i="1">
                <a:solidFill>
                  <a:srgbClr val="262626"/>
                </a:solidFill>
                <a:latin typeface="Calibri"/>
              </a:rPr>
              <a:t>why</a:t>
            </a:r>
            <a:r>
              <a:rPr sz="1700" b="0" i="0">
                <a:solidFill>
                  <a:srgbClr val="262626"/>
                </a:solidFill>
                <a:latin typeface="Calibri"/>
              </a:rPr>
              <a:t> a home is worth what it is.</a:t>
            </a:r>
          </a:p>
          <a:p>
            <a:pPr>
              <a:lnSpc>
                <a:spcPct val="104000"/>
              </a:lnSpc>
              <a:spcAft>
                <a:spcPts val="800"/>
              </a:spcAft>
            </a:pPr>
            <a:r>
              <a:rPr sz="1700" b="1">
                <a:solidFill>
                  <a:srgbClr val="2E75B6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262626"/>
                </a:solidFill>
                <a:latin typeface="Calibri"/>
              </a:rPr>
              <a:t>Goal: </a:t>
            </a:r>
            <a:r>
              <a:rPr sz="1700" b="0" i="0">
                <a:solidFill>
                  <a:srgbClr val="262626"/>
                </a:solidFill>
                <a:latin typeface="Calibri"/>
              </a:rPr>
              <a:t>given the attributes of a residential property in Ames, Iowa, build an ML system that estimates</a:t>
            </a:r>
          </a:p>
          <a:p>
            <a:pPr lvl="1">
              <a:lnSpc>
                <a:spcPct val="104000"/>
              </a:lnSpc>
              <a:spcAft>
                <a:spcPts val="400"/>
              </a:spcAft>
            </a:pPr>
            <a:r>
              <a:rPr sz="1500" b="1">
                <a:solidFill>
                  <a:srgbClr val="595959"/>
                </a:solidFill>
                <a:latin typeface="Calibri"/>
              </a:rPr>
              <a:t>–  </a:t>
            </a:r>
            <a:r>
              <a:rPr sz="1500" b="0" i="0">
                <a:solidFill>
                  <a:srgbClr val="262626"/>
                </a:solidFill>
                <a:latin typeface="Calibri"/>
              </a:rPr>
              <a:t>Sale price (regression) with a prediction interval, in dollars</a:t>
            </a:r>
          </a:p>
          <a:p>
            <a:pPr lvl="1">
              <a:lnSpc>
                <a:spcPct val="104000"/>
              </a:lnSpc>
              <a:spcAft>
                <a:spcPts val="400"/>
              </a:spcAft>
            </a:pPr>
            <a:r>
              <a:rPr sz="1500" b="1">
                <a:solidFill>
                  <a:srgbClr val="595959"/>
                </a:solidFill>
                <a:latin typeface="Calibri"/>
              </a:rPr>
              <a:t>–  </a:t>
            </a:r>
            <a:r>
              <a:rPr sz="1500" b="0" i="0">
                <a:solidFill>
                  <a:srgbClr val="262626"/>
                </a:solidFill>
                <a:latin typeface="Calibri"/>
              </a:rPr>
              <a:t>Probability of selling within 30 days (calibrated classification)</a:t>
            </a:r>
          </a:p>
          <a:p>
            <a:pPr lvl="1">
              <a:lnSpc>
                <a:spcPct val="104000"/>
              </a:lnSpc>
              <a:spcAft>
                <a:spcPts val="400"/>
              </a:spcAft>
            </a:pPr>
            <a:r>
              <a:rPr sz="1500" b="1">
                <a:solidFill>
                  <a:srgbClr val="595959"/>
                </a:solidFill>
                <a:latin typeface="Calibri"/>
              </a:rPr>
              <a:t>–  </a:t>
            </a:r>
            <a:r>
              <a:rPr sz="1500" b="0" i="0">
                <a:solidFill>
                  <a:srgbClr val="262626"/>
                </a:solidFill>
                <a:latin typeface="Calibri"/>
              </a:rPr>
              <a:t>Micro-market segment (unsupervised clustering of 25 neighborhoods)</a:t>
            </a:r>
          </a:p>
          <a:p>
            <a:pPr>
              <a:lnSpc>
                <a:spcPct val="104000"/>
              </a:lnSpc>
              <a:spcAft>
                <a:spcPts val="800"/>
              </a:spcAft>
            </a:pPr>
            <a:r>
              <a:rPr sz="1700" b="1">
                <a:solidFill>
                  <a:srgbClr val="2E75B6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262626"/>
                </a:solidFill>
                <a:latin typeface="Calibri"/>
              </a:rPr>
              <a:t>Every estimate must be explainable </a:t>
            </a:r>
            <a:r>
              <a:rPr sz="1700" b="0" i="0">
                <a:solidFill>
                  <a:srgbClr val="262626"/>
                </a:solidFill>
                <a:latin typeface="Calibri"/>
              </a:rPr>
              <a:t>(per-prediction SHAP factors) and served through a usable product (API + dashboard), not just a notebook.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4434840"/>
            <a:ext cx="11155680" cy="178308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4526280"/>
            <a:ext cx="1082649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</a:rPr>
              <a:t>Why it matters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4910328"/>
            <a:ext cx="10826496" cy="12161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 i="0">
                <a:solidFill>
                  <a:srgbClr val="262626"/>
                </a:solidFill>
                <a:latin typeface="Calibri"/>
              </a:rPr>
              <a:t>•  For sellers/agents: defensible listing prices and expected time-on-market.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 i="0">
                <a:solidFill>
                  <a:srgbClr val="262626"/>
                </a:solidFill>
                <a:latin typeface="Calibri"/>
              </a:rPr>
              <a:t>•  For buyers: a data-driven check on whether an asking price is fair.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 i="0">
                <a:solidFill>
                  <a:srgbClr val="262626"/>
                </a:solidFill>
                <a:latin typeface="Calibri"/>
              </a:rPr>
              <a:t>•  For analysts: interpretable drivers of value and a map of distinct micro-markets.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95959"/>
                </a:solidFill>
                <a:latin typeface="Calibri"/>
              </a:rPr>
              <a:t>PropPulse — Project Review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473952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95959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91695" cy="38100"/>
          </a:xfrm>
          <a:prstGeom prst="rect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247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BDD0EA"/>
                </a:solidFill>
                <a:latin typeface="Calibri"/>
              </a:rPr>
              <a:t>SPEAKER 1 • ~40 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2471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Abstract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88136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600" b="0" i="0">
                <a:solidFill>
                  <a:srgbClr val="262626"/>
                </a:solidFill>
                <a:latin typeface="Calibri"/>
              </a:rPr>
              <a:t>PropPulse is an end-to-end machine-learning platform for residential property valuation in Ames, Iowa (Kaggle “House Prices: Advanced Regression Techniques”, 1,460 sales, 2006–2010). The system predicts a home’s sale price (regression on log-price, reported in dollars with an ~80% prediction interval), the probability that it sells within 30 days (calibrated classification), and its micro-market segment (DBSCAN clustering of the 25 neighborhoods). Every prediction is explained with per-prediction SHAP factors.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600" b="0" i="0">
                <a:solidFill>
                  <a:srgbClr val="262626"/>
                </a:solidFill>
                <a:latin typeface="Calibri"/>
              </a:rPr>
              <a:t>Methodology is leakage-safe by construction: a time-based split (train ≤ 2008 / validation 2009 / sealed test 2010), all aggregate statistics fit on train only, and a single feature pipeline shared by training and serving. Models are served by a FastAPI backend, consumed by a React dashboard, tracked with MLflow, monitored for data drift with PSI, and packaged with Docker.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600" b="0" i="1">
                <a:solidFill>
                  <a:srgbClr val="595959"/>
                </a:solidFill>
                <a:latin typeface="Calibri"/>
              </a:rPr>
              <a:t>This review covers the problem statement, the completed exploratory data analysis (14 figures, reproducible notebook), and the project repository.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95959"/>
                </a:solidFill>
                <a:latin typeface="Calibri"/>
              </a:rPr>
              <a:t>PropPulse — Project Review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73952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95959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91695" cy="38100"/>
          </a:xfrm>
          <a:prstGeom prst="rect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247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BDD0EA"/>
                </a:solidFill>
                <a:latin typeface="Calibri"/>
              </a:rPr>
              <a:t>SPEAKER 2 • ~40 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2471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Objectives &amp;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6035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Aft>
                <a:spcPts val="800"/>
              </a:spcAft>
            </a:pPr>
            <a:r>
              <a:rPr sz="1500" b="1">
                <a:solidFill>
                  <a:srgbClr val="2E75B6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262626"/>
                </a:solidFill>
                <a:latin typeface="Calibri"/>
              </a:rPr>
              <a:t>O1 — Data pipeline: </a:t>
            </a:r>
            <a:r>
              <a:rPr sz="1500" b="0" i="0">
                <a:solidFill>
                  <a:srgbClr val="262626"/>
                </a:solidFill>
                <a:latin typeface="Calibri"/>
              </a:rPr>
              <a:t>ingest → clean → validate → time-based split (945 / 338 / 175 rows)</a:t>
            </a:r>
          </a:p>
          <a:p>
            <a:pPr>
              <a:lnSpc>
                <a:spcPct val="104000"/>
              </a:lnSpc>
              <a:spcAft>
                <a:spcPts val="800"/>
              </a:spcAft>
            </a:pPr>
            <a:r>
              <a:rPr sz="1500" b="1">
                <a:solidFill>
                  <a:srgbClr val="2E75B6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262626"/>
                </a:solidFill>
                <a:latin typeface="Calibri"/>
              </a:rPr>
              <a:t>O2 — EDA: </a:t>
            </a:r>
            <a:r>
              <a:rPr sz="1500" b="0" i="0">
                <a:solidFill>
                  <a:srgbClr val="262626"/>
                </a:solidFill>
                <a:latin typeface="Calibri"/>
              </a:rPr>
              <a:t>14-figure reproducible analysis of the train split </a:t>
            </a:r>
            <a:r>
              <a:rPr sz="1500" b="1" i="0">
                <a:solidFill>
                  <a:srgbClr val="2E75B6"/>
                </a:solidFill>
                <a:latin typeface="Calibri"/>
              </a:rPr>
              <a:t>(this review)</a:t>
            </a:r>
          </a:p>
          <a:p>
            <a:pPr>
              <a:lnSpc>
                <a:spcPct val="104000"/>
              </a:lnSpc>
              <a:spcAft>
                <a:spcPts val="800"/>
              </a:spcAft>
            </a:pPr>
            <a:r>
              <a:rPr sz="1500" b="1">
                <a:solidFill>
                  <a:srgbClr val="2E75B6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262626"/>
                </a:solidFill>
                <a:latin typeface="Calibri"/>
              </a:rPr>
              <a:t>O3 — Feature engineering: </a:t>
            </a:r>
            <a:r>
              <a:rPr sz="1500" b="0" i="0">
                <a:solidFill>
                  <a:srgbClr val="262626"/>
                </a:solidFill>
                <a:latin typeface="Calibri"/>
              </a:rPr>
              <a:t>94 features, one pipeline shared by training and serving</a:t>
            </a:r>
          </a:p>
          <a:p>
            <a:pPr>
              <a:lnSpc>
                <a:spcPct val="104000"/>
              </a:lnSpc>
              <a:spcAft>
                <a:spcPts val="800"/>
              </a:spcAft>
            </a:pPr>
            <a:r>
              <a:rPr sz="1500" b="1">
                <a:solidFill>
                  <a:srgbClr val="2E75B6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262626"/>
                </a:solidFill>
                <a:latin typeface="Calibri"/>
              </a:rPr>
              <a:t>O4 — Models: </a:t>
            </a:r>
            <a:r>
              <a:rPr sz="1500" b="0" i="0">
                <a:solidFill>
                  <a:srgbClr val="262626"/>
                </a:solidFill>
                <a:latin typeface="Calibri"/>
              </a:rPr>
              <a:t>5 regression + 4 classification candidates, champion selection on validation; DBSCAN micro-markets</a:t>
            </a:r>
          </a:p>
          <a:p>
            <a:pPr>
              <a:lnSpc>
                <a:spcPct val="104000"/>
              </a:lnSpc>
              <a:spcAft>
                <a:spcPts val="800"/>
              </a:spcAft>
            </a:pPr>
            <a:r>
              <a:rPr sz="1500" b="1">
                <a:solidFill>
                  <a:srgbClr val="2E75B6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262626"/>
                </a:solidFill>
                <a:latin typeface="Calibri"/>
              </a:rPr>
              <a:t>O5 — Explainability: </a:t>
            </a:r>
            <a:r>
              <a:rPr sz="1500" b="0" i="0">
                <a:solidFill>
                  <a:srgbClr val="262626"/>
                </a:solidFill>
                <a:latin typeface="Calibri"/>
              </a:rPr>
              <a:t>global + per-prediction SHAP</a:t>
            </a:r>
          </a:p>
          <a:p>
            <a:pPr>
              <a:lnSpc>
                <a:spcPct val="104000"/>
              </a:lnSpc>
              <a:spcAft>
                <a:spcPts val="800"/>
              </a:spcAft>
            </a:pPr>
            <a:r>
              <a:rPr sz="1500" b="1">
                <a:solidFill>
                  <a:srgbClr val="2E75B6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262626"/>
                </a:solidFill>
                <a:latin typeface="Calibri"/>
              </a:rPr>
              <a:t>O6 — Product: </a:t>
            </a:r>
            <a:r>
              <a:rPr sz="1500" b="0" i="0">
                <a:solidFill>
                  <a:srgbClr val="262626"/>
                </a:solidFill>
                <a:latin typeface="Calibri"/>
              </a:rPr>
              <a:t>FastAPI backend, React dashboard, drift monitoring, Docker, CI + tests</a:t>
            </a:r>
          </a:p>
        </p:txBody>
      </p:sp>
      <p:sp>
        <p:nvSpPr>
          <p:cNvPr id="7" name="Rectangle 6"/>
          <p:cNvSpPr/>
          <p:nvPr/>
        </p:nvSpPr>
        <p:spPr>
          <a:xfrm>
            <a:off x="6812280" y="1325880"/>
            <a:ext cx="4892040" cy="484632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76872" y="1417320"/>
            <a:ext cx="456285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1F3864"/>
                </a:solidFill>
                <a:latin typeface="Calibri"/>
              </a:rPr>
              <a:t>Scope &amp; honest boundaries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76872" y="1801368"/>
            <a:ext cx="4562856" cy="4279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 i="0">
                <a:solidFill>
                  <a:srgbClr val="262626"/>
                </a:solidFill>
                <a:latin typeface="Calibri"/>
              </a:rPr>
              <a:t>•  One city (Ames), 1,460 labeled rows, sales from 2006–2010.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 i="0">
                <a:solidFill>
                  <a:srgbClr val="262626"/>
                </a:solidFill>
                <a:latin typeface="Calibri"/>
              </a:rPr>
              <a:t>•  No per-property coordinates → documented neighborhood-centroid lookup (ADR-2).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 i="0">
                <a:solidFill>
                  <a:srgbClr val="262626"/>
                </a:solidFill>
                <a:latin typeface="Calibri"/>
              </a:rPr>
              <a:t>•  No days-on-market in data → transparent, seeded simulation; all fast-sale metrics labelled SIMULATED (ADR-3).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 i="0">
                <a:solidFill>
                  <a:srgbClr val="262626"/>
                </a:solidFill>
                <a:latin typeface="Calibri"/>
              </a:rPr>
              <a:t>•  Test split (2010) stays sealed until final evaluation.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 i="0">
                <a:solidFill>
                  <a:srgbClr val="262626"/>
                </a:solidFill>
                <a:latin typeface="Calibri"/>
              </a:rPr>
              <a:t>•  Emphasis: correct methodology + reproducibility, not the lowest possible error.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95959"/>
                </a:solidFill>
                <a:latin typeface="Calibri"/>
              </a:rPr>
              <a:t>PropPulse — Project Review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473952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95959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91695" cy="38100"/>
          </a:xfrm>
          <a:prstGeom prst="rect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247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BDD0EA"/>
                </a:solidFill>
                <a:latin typeface="Calibri"/>
              </a:rPr>
              <a:t>SPEAKER 2 • ~45 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2471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Dataset — Ames, Iowa Housing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6309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Aft>
                <a:spcPts val="800"/>
              </a:spcAft>
            </a:pPr>
            <a:r>
              <a:rPr sz="1500" b="1">
                <a:solidFill>
                  <a:srgbClr val="2E75B6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262626"/>
                </a:solidFill>
                <a:latin typeface="Calibri"/>
              </a:rPr>
              <a:t>Source: </a:t>
            </a:r>
            <a:r>
              <a:rPr sz="1500" b="0" i="0">
                <a:solidFill>
                  <a:srgbClr val="262626"/>
                </a:solidFill>
                <a:latin typeface="Calibri"/>
              </a:rPr>
              <a:t>Kaggle “House Prices: Advanced Regression Techniques” (De Cock, 2011, J. of Statistics Education)</a:t>
            </a:r>
          </a:p>
          <a:p>
            <a:pPr>
              <a:lnSpc>
                <a:spcPct val="104000"/>
              </a:lnSpc>
              <a:spcAft>
                <a:spcPts val="800"/>
              </a:spcAft>
            </a:pPr>
            <a:r>
              <a:rPr sz="1500" b="1">
                <a:solidFill>
                  <a:srgbClr val="2E75B6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262626"/>
                </a:solidFill>
                <a:latin typeface="Calibri"/>
              </a:rPr>
              <a:t>Raw: </a:t>
            </a:r>
            <a:r>
              <a:rPr sz="1500" b="0" i="0">
                <a:solidFill>
                  <a:srgbClr val="262626"/>
                </a:solidFill>
                <a:latin typeface="Calibri"/>
              </a:rPr>
              <a:t>1,460 rows × 81 columns of residential sales, 2006–2010</a:t>
            </a:r>
          </a:p>
          <a:p>
            <a:pPr>
              <a:lnSpc>
                <a:spcPct val="104000"/>
              </a:lnSpc>
              <a:spcAft>
                <a:spcPts val="800"/>
              </a:spcAft>
            </a:pPr>
            <a:r>
              <a:rPr sz="1500" b="1">
                <a:solidFill>
                  <a:srgbClr val="2E75B6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262626"/>
                </a:solidFill>
                <a:latin typeface="Calibri"/>
              </a:rPr>
              <a:t>Features: </a:t>
            </a:r>
            <a:r>
              <a:rPr sz="1500" b="0" i="0">
                <a:solidFill>
                  <a:srgbClr val="262626"/>
                </a:solidFill>
                <a:latin typeface="Calibri"/>
              </a:rPr>
              <a:t>size, quality/condition, age, amenities, neighborhood, sale period — 23 nominal, 23 ordinal, 14 discrete, 20 continuous + target SalePrice</a:t>
            </a:r>
          </a:p>
          <a:p>
            <a:pPr>
              <a:lnSpc>
                <a:spcPct val="104000"/>
              </a:lnSpc>
              <a:spcAft>
                <a:spcPts val="800"/>
              </a:spcAft>
            </a:pPr>
            <a:r>
              <a:rPr sz="1500" b="1">
                <a:solidFill>
                  <a:srgbClr val="2E75B6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262626"/>
                </a:solidFill>
                <a:latin typeface="Calibri"/>
              </a:rPr>
              <a:t>Time-based split (no shuffle): </a:t>
            </a:r>
            <a:r>
              <a:rPr sz="1500" b="0" i="0">
                <a:solidFill>
                  <a:srgbClr val="262626"/>
                </a:solidFill>
                <a:latin typeface="Calibri"/>
              </a:rPr>
              <a:t>train ≤ 2008 (945) • val 2009 (338) • test 2010 (175, sealed)</a:t>
            </a:r>
          </a:p>
          <a:p>
            <a:pPr>
              <a:lnSpc>
                <a:spcPct val="104000"/>
              </a:lnSpc>
              <a:spcAft>
                <a:spcPts val="800"/>
              </a:spcAft>
            </a:pPr>
            <a:r>
              <a:rPr sz="1500" b="1">
                <a:solidFill>
                  <a:srgbClr val="2E75B6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262626"/>
                </a:solidFill>
                <a:latin typeface="Calibri"/>
              </a:rPr>
              <a:t>Cleaning: </a:t>
            </a:r>
            <a:r>
              <a:rPr sz="1500" b="0" i="0">
                <a:solidFill>
                  <a:srgbClr val="262626"/>
                </a:solidFill>
                <a:latin typeface="Calibri"/>
              </a:rPr>
              <a:t>structural NAs (“feature absent”) → “None”; only LotFrontage truly imputed (train-fit neighborhood medians); 2 partial-sale outliers removed on train</a:t>
            </a:r>
          </a:p>
        </p:txBody>
      </p:sp>
      <p:sp>
        <p:nvSpPr>
          <p:cNvPr id="7" name="Rectangle 6"/>
          <p:cNvSpPr/>
          <p:nvPr/>
        </p:nvSpPr>
        <p:spPr>
          <a:xfrm>
            <a:off x="7086600" y="1325880"/>
            <a:ext cx="4572000" cy="228600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51192" y="1417320"/>
            <a:ext cx="424281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1F3864"/>
                </a:solidFill>
                <a:latin typeface="Calibri"/>
              </a:rPr>
              <a:t>Headline numbers (train, n = 945)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51192" y="1801368"/>
            <a:ext cx="4242816" cy="1719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 i="0">
                <a:solidFill>
                  <a:srgbClr val="262626"/>
                </a:solidFill>
                <a:latin typeface="Calibri"/>
              </a:rPr>
              <a:t>•  Median price $164,990 • mean $182,125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 i="0">
                <a:solidFill>
                  <a:srgbClr val="262626"/>
                </a:solidFill>
                <a:latin typeface="Calibri"/>
              </a:rPr>
              <a:t>•  Range $35,311 – $755,000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 i="0">
                <a:solidFill>
                  <a:srgbClr val="262626"/>
                </a:solidFill>
                <a:latin typeface="Calibri"/>
              </a:rPr>
              <a:t>•  Skew 1.967 → 0.175 after log1p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 i="0">
                <a:solidFill>
                  <a:srgbClr val="262626"/>
                </a:solidFill>
                <a:latin typeface="Calibri"/>
              </a:rPr>
              <a:t>•  25 neighborhoods, median-price spread 3.18×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 i="0">
                <a:solidFill>
                  <a:srgbClr val="262626"/>
                </a:solidFill>
                <a:latin typeface="Calibri"/>
              </a:rPr>
              <a:t>•  Fast-sale (simulated): 25.3% of sales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6600" y="3886200"/>
            <a:ext cx="4572000" cy="228600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51192" y="3977640"/>
            <a:ext cx="424281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1F3864"/>
                </a:solidFill>
                <a:latin typeface="Calibri"/>
              </a:rPr>
              <a:t>Documented fallbacks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51192" y="4361688"/>
            <a:ext cx="4242816" cy="1719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 i="0">
                <a:solidFill>
                  <a:srgbClr val="262626"/>
                </a:solidFill>
                <a:latin typeface="Calibri"/>
              </a:rPr>
              <a:t>•  lat/long = approximate neighborhood centroids (ADR-2)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 i="0">
                <a:solidFill>
                  <a:srgbClr val="262626"/>
                </a:solidFill>
                <a:latin typeface="Calibri"/>
              </a:rPr>
              <a:t>•  days_on_market = seeded simulation of price-vs-neighborhood, quality, seasonality (ADR-3)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 i="0">
                <a:solidFill>
                  <a:srgbClr val="262626"/>
                </a:solidFill>
                <a:latin typeface="Calibri"/>
              </a:rPr>
              <a:t>•  Both have drop-in adapters for real data later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95959"/>
                </a:solidFill>
                <a:latin typeface="Calibri"/>
              </a:rPr>
              <a:t>PropPulse — Project Review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473952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95959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91695" cy="38100"/>
          </a:xfrm>
          <a:prstGeom prst="rect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247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BDD0EA"/>
                </a:solidFill>
                <a:latin typeface="Calibri"/>
              </a:rPr>
              <a:t>SPEAKER 3 • ~45 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2471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EDA — Target: Right-Skewed → Log Transform</a:t>
            </a:r>
          </a:p>
        </p:txBody>
      </p:sp>
      <p:pic>
        <p:nvPicPr>
          <p:cNvPr id="6" name="Picture 5" descr="01_saleprice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405854"/>
            <a:ext cx="6949440" cy="273209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589520" y="1371600"/>
            <a:ext cx="41605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Aft>
                <a:spcPts val="800"/>
              </a:spcAft>
            </a:pPr>
            <a:r>
              <a:rPr sz="1500" b="1">
                <a:solidFill>
                  <a:srgbClr val="2E75B6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62626"/>
                </a:solidFill>
                <a:latin typeface="Calibri"/>
              </a:rPr>
              <a:t>Raw SalePrice is strongly right-skewed: </a:t>
            </a:r>
            <a:r>
              <a:rPr sz="1500" b="1" i="0">
                <a:solidFill>
                  <a:srgbClr val="262626"/>
                </a:solidFill>
                <a:latin typeface="Calibri"/>
              </a:rPr>
              <a:t>skew 1.967</a:t>
            </a:r>
            <a:r>
              <a:rPr sz="1500" b="0" i="0">
                <a:solidFill>
                  <a:srgbClr val="262626"/>
                </a:solidFill>
                <a:latin typeface="Calibri"/>
              </a:rPr>
              <a:t>, kurtosis 7.55 — mean sits ~10% above median</a:t>
            </a:r>
          </a:p>
          <a:p>
            <a:pPr>
              <a:lnSpc>
                <a:spcPct val="104000"/>
              </a:lnSpc>
              <a:spcAft>
                <a:spcPts val="800"/>
              </a:spcAft>
            </a:pPr>
            <a:r>
              <a:rPr sz="1500" b="1">
                <a:solidFill>
                  <a:srgbClr val="2E75B6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62626"/>
                </a:solidFill>
                <a:latin typeface="Calibri"/>
              </a:rPr>
              <a:t>After log1p: </a:t>
            </a:r>
            <a:r>
              <a:rPr sz="1500" b="1" i="0">
                <a:solidFill>
                  <a:srgbClr val="262626"/>
                </a:solidFill>
                <a:latin typeface="Calibri"/>
              </a:rPr>
              <a:t>skew 0.175</a:t>
            </a:r>
            <a:r>
              <a:rPr sz="1500" b="0" i="0">
                <a:solidFill>
                  <a:srgbClr val="262626"/>
                </a:solidFill>
                <a:latin typeface="Calibri"/>
              </a:rPr>
              <a:t>, kurtosis 0.82 — near-symmetric</a:t>
            </a:r>
          </a:p>
          <a:p>
            <a:pPr>
              <a:lnSpc>
                <a:spcPct val="104000"/>
              </a:lnSpc>
              <a:spcAft>
                <a:spcPts val="800"/>
              </a:spcAft>
            </a:pPr>
            <a:r>
              <a:rPr sz="1500" b="1">
                <a:solidFill>
                  <a:srgbClr val="2E75B6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62626"/>
                </a:solidFill>
                <a:latin typeface="Calibri"/>
              </a:rPr>
              <a:t>Errors scale with price → multiplicative model</a:t>
            </a:r>
          </a:p>
          <a:p>
            <a:pPr>
              <a:lnSpc>
                <a:spcPct val="104000"/>
              </a:lnSpc>
              <a:spcAft>
                <a:spcPts val="800"/>
              </a:spcAft>
            </a:pPr>
            <a:r>
              <a:rPr sz="1500" b="1">
                <a:solidFill>
                  <a:srgbClr val="2E75B6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2E75B6"/>
                </a:solidFill>
                <a:latin typeface="Calibri"/>
              </a:rPr>
              <a:t>Decision: </a:t>
            </a:r>
            <a:r>
              <a:rPr sz="1500" b="0" i="0">
                <a:solidFill>
                  <a:srgbClr val="262626"/>
                </a:solidFill>
                <a:latin typeface="Calibri"/>
              </a:rPr>
              <a:t>train on log1p(SalePrice), RMSLE primary metric, report dollars via expm1 (ADR-10)</a:t>
            </a:r>
          </a:p>
          <a:p>
            <a:pPr>
              <a:lnSpc>
                <a:spcPct val="104000"/>
              </a:lnSpc>
              <a:spcAft>
                <a:spcPts val="800"/>
              </a:spcAft>
            </a:pPr>
            <a:r>
              <a:rPr sz="1500" b="1">
                <a:solidFill>
                  <a:srgbClr val="2E75B6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62626"/>
                </a:solidFill>
                <a:latin typeface="Calibri"/>
              </a:rPr>
              <a:t>$/sqft is tight (skew 0.43): most raw skew is a size effect, not a price-level effect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95959"/>
                </a:solidFill>
                <a:latin typeface="Calibri"/>
              </a:rPr>
              <a:t>PropPulse — Project Review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95959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91695" cy="38100"/>
          </a:xfrm>
          <a:prstGeom prst="rect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247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BDD0EA"/>
                </a:solidFill>
                <a:latin typeface="Calibri"/>
              </a:rPr>
              <a:t>SPEAKER 3 • ~50 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2471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EDA — What Drives Price</a:t>
            </a:r>
          </a:p>
        </p:txBody>
      </p:sp>
      <p:pic>
        <p:nvPicPr>
          <p:cNvPr id="6" name="Picture 5" descr="11_correlat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744" y="1234440"/>
            <a:ext cx="5830832" cy="5074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949440" y="1371600"/>
            <a:ext cx="4800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Aft>
                <a:spcPts val="800"/>
              </a:spcAft>
            </a:pPr>
            <a:r>
              <a:rPr sz="1500" b="1">
                <a:solidFill>
                  <a:srgbClr val="2E75B6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262626"/>
                </a:solidFill>
                <a:latin typeface="Calibri"/>
              </a:rPr>
              <a:t>OverallQual dominates: </a:t>
            </a:r>
            <a:r>
              <a:rPr sz="1500" b="0" i="0">
                <a:solidFill>
                  <a:srgbClr val="262626"/>
                </a:solidFill>
                <a:latin typeface="Calibri"/>
              </a:rPr>
              <a:t>r = 0.789; median price climbs $109k (Q4) → $466k (Q10) — roughly exponential in dollars</a:t>
            </a:r>
          </a:p>
          <a:p>
            <a:pPr>
              <a:lnSpc>
                <a:spcPct val="104000"/>
              </a:lnSpc>
              <a:spcAft>
                <a:spcPts val="800"/>
              </a:spcAft>
            </a:pPr>
            <a:r>
              <a:rPr sz="1500" b="1">
                <a:solidFill>
                  <a:srgbClr val="2E75B6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262626"/>
                </a:solidFill>
                <a:latin typeface="Calibri"/>
              </a:rPr>
              <a:t>Size block: </a:t>
            </a:r>
            <a:r>
              <a:rPr sz="1500" b="0" i="0">
                <a:solidFill>
                  <a:srgbClr val="262626"/>
                </a:solidFill>
                <a:latin typeface="Calibri"/>
              </a:rPr>
              <a:t>GrLivArea 0.75, TotalBsmtSF 0.64, total_bath 0.64, GarageCars 0.63</a:t>
            </a:r>
          </a:p>
          <a:p>
            <a:pPr>
              <a:lnSpc>
                <a:spcPct val="104000"/>
              </a:lnSpc>
              <a:spcAft>
                <a:spcPts val="800"/>
              </a:spcAft>
            </a:pPr>
            <a:r>
              <a:rPr sz="1500" b="1">
                <a:solidFill>
                  <a:srgbClr val="2E75B6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62626"/>
                </a:solidFill>
                <a:latin typeface="Calibri"/>
              </a:rPr>
              <a:t>Engineered amenity_count </a:t>
            </a:r>
            <a:r>
              <a:rPr sz="1500" b="1" i="0">
                <a:solidFill>
                  <a:srgbClr val="262626"/>
                </a:solidFill>
                <a:latin typeface="Calibri"/>
              </a:rPr>
              <a:t>r = 0.609</a:t>
            </a:r>
            <a:r>
              <a:rPr sz="1500" b="0" i="0">
                <a:solidFill>
                  <a:srgbClr val="262626"/>
                </a:solidFill>
                <a:latin typeface="Calibri"/>
              </a:rPr>
              <a:t> — medians rise $74k → $275k over 0→7 amenities</a:t>
            </a:r>
          </a:p>
          <a:p>
            <a:pPr>
              <a:lnSpc>
                <a:spcPct val="104000"/>
              </a:lnSpc>
              <a:spcAft>
                <a:spcPts val="800"/>
              </a:spcAft>
            </a:pPr>
            <a:r>
              <a:rPr sz="1500" b="1">
                <a:solidFill>
                  <a:srgbClr val="2E75B6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62626"/>
                </a:solidFill>
                <a:latin typeface="Calibri"/>
              </a:rPr>
              <a:t>Age r = −0.49 but non-monotone at the old end (character homes)</a:t>
            </a:r>
          </a:p>
          <a:p>
            <a:pPr>
              <a:lnSpc>
                <a:spcPct val="104000"/>
              </a:lnSpc>
              <a:spcAft>
                <a:spcPts val="800"/>
              </a:spcAft>
            </a:pPr>
            <a:r>
              <a:rPr sz="1500" b="1">
                <a:solidFill>
                  <a:srgbClr val="2E75B6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262626"/>
                </a:solidFill>
                <a:latin typeface="Calibri"/>
              </a:rPr>
              <a:t>Heavy multicollinearity </a:t>
            </a:r>
            <a:r>
              <a:rPr sz="1500" b="0" i="0">
                <a:solidFill>
                  <a:srgbClr val="262626"/>
                </a:solidFill>
                <a:latin typeface="Calibri"/>
              </a:rPr>
              <a:t>(GarageCars↔GarageArea 0.89) → trees / regularized linear; read importance in groups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95959"/>
                </a:solidFill>
                <a:latin typeface="Calibri"/>
              </a:rPr>
              <a:t>PropPulse — Project Review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95959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91695" cy="38100"/>
          </a:xfrm>
          <a:prstGeom prst="rect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247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BDD0EA"/>
                </a:solidFill>
                <a:latin typeface="Calibri"/>
              </a:rPr>
              <a:t>SPEAKER 4 • ~50 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2471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EDA — Location: Neighborhood Is the Signal</a:t>
            </a:r>
          </a:p>
        </p:txBody>
      </p:sp>
      <p:pic>
        <p:nvPicPr>
          <p:cNvPr id="6" name="Picture 5" descr="09_neighborhood_pr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476" y="1234440"/>
            <a:ext cx="5660487" cy="5074920"/>
          </a:xfrm>
          <a:prstGeom prst="rect">
            <a:avLst/>
          </a:prstGeom>
        </p:spPr>
      </p:pic>
      <p:pic>
        <p:nvPicPr>
          <p:cNvPr id="7" name="Picture 6" descr="08_geo_scat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8993" y="1234440"/>
            <a:ext cx="3792893" cy="3291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12280" y="4617720"/>
            <a:ext cx="49834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Aft>
                <a:spcPts val="800"/>
              </a:spcAft>
            </a:pPr>
            <a:r>
              <a:rPr sz="1400" b="1">
                <a:solidFill>
                  <a:srgbClr val="2E75B6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262626"/>
                </a:solidFill>
                <a:latin typeface="Calibri"/>
              </a:rPr>
              <a:t>Median prices span 3.18×: </a:t>
            </a:r>
            <a:r>
              <a:rPr sz="1400" b="0" i="0">
                <a:solidFill>
                  <a:srgbClr val="262626"/>
                </a:solidFill>
                <a:latin typeface="Calibri"/>
              </a:rPr>
              <a:t>NridgHt $318k vs BrDale $100k</a:t>
            </a:r>
          </a:p>
          <a:p>
            <a:pPr>
              <a:lnSpc>
                <a:spcPct val="104000"/>
              </a:lnSpc>
              <a:spcAft>
                <a:spcPts val="800"/>
              </a:spcAft>
            </a:pPr>
            <a:r>
              <a:rPr sz="1400" b="1">
                <a:solidFill>
                  <a:srgbClr val="2E75B6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262626"/>
                </a:solidFill>
                <a:latin typeface="Calibri"/>
              </a:rPr>
              <a:t>Premium $/sqft concentrates north/northwest; distance to downtown only r = +0.28</a:t>
            </a:r>
          </a:p>
          <a:p>
            <a:pPr>
              <a:lnSpc>
                <a:spcPct val="104000"/>
              </a:lnSpc>
              <a:spcAft>
                <a:spcPts val="800"/>
              </a:spcAft>
            </a:pPr>
            <a:r>
              <a:rPr sz="1400" b="1">
                <a:solidFill>
                  <a:srgbClr val="2E75B6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262626"/>
                </a:solidFill>
                <a:latin typeface="Calibri"/>
              </a:rPr>
              <a:t>→ neighborhood identity, not radial distance </a:t>
            </a:r>
            <a:r>
              <a:rPr sz="1400" b="0" i="0">
                <a:solidFill>
                  <a:srgbClr val="262626"/>
                </a:solidFill>
                <a:latin typeface="Calibri"/>
              </a:rPr>
              <a:t>— supports neighborhood stats + DBSCAN micro-markets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95959"/>
                </a:solidFill>
                <a:latin typeface="Calibri"/>
              </a:rPr>
              <a:t>PropPulse — Project Review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473952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95959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91695" cy="38100"/>
          </a:xfrm>
          <a:prstGeom prst="rect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247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BDD0EA"/>
                </a:solidFill>
                <a:latin typeface="Calibri"/>
              </a:rPr>
              <a:t>SPEAKER 4 • ~50 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2471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EDA — Data Quality: Missingness &amp; Outliers</a:t>
            </a:r>
          </a:p>
        </p:txBody>
      </p:sp>
      <p:pic>
        <p:nvPicPr>
          <p:cNvPr id="6" name="Picture 5" descr="12_missingness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664019"/>
            <a:ext cx="5760719" cy="4215762"/>
          </a:xfrm>
          <a:prstGeom prst="rect">
            <a:avLst/>
          </a:prstGeom>
        </p:spPr>
      </p:pic>
      <p:pic>
        <p:nvPicPr>
          <p:cNvPr id="7" name="Picture 6" descr="13_outli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839277"/>
            <a:ext cx="5394960" cy="217360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37960" y="4709160"/>
            <a:ext cx="5257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Aft>
                <a:spcPts val="800"/>
              </a:spcAft>
            </a:pPr>
            <a:r>
              <a:rPr sz="1400" b="1">
                <a:solidFill>
                  <a:srgbClr val="2E75B6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262626"/>
                </a:solidFill>
                <a:latin typeface="Calibri"/>
              </a:rPr>
              <a:t>19 raw columns with NAs — nearly all structural (PoolQC 99.5%) → “None”, not imputed</a:t>
            </a:r>
          </a:p>
          <a:p>
            <a:pPr>
              <a:lnSpc>
                <a:spcPct val="104000"/>
              </a:lnSpc>
              <a:spcAft>
                <a:spcPts val="800"/>
              </a:spcAft>
            </a:pPr>
            <a:r>
              <a:rPr sz="1400" b="1">
                <a:solidFill>
                  <a:srgbClr val="2E75B6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262626"/>
                </a:solidFill>
                <a:latin typeface="Calibri"/>
              </a:rPr>
              <a:t>Only LotFrontage (17.7%) truly imputed — train-fit neighborhood medians</a:t>
            </a:r>
          </a:p>
          <a:p>
            <a:pPr>
              <a:lnSpc>
                <a:spcPct val="104000"/>
              </a:lnSpc>
              <a:spcAft>
                <a:spcPts val="800"/>
              </a:spcAft>
            </a:pPr>
            <a:r>
              <a:rPr sz="1400" b="1">
                <a:solidFill>
                  <a:srgbClr val="2E75B6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262626"/>
                </a:solidFill>
                <a:latin typeface="Calibri"/>
              </a:rPr>
              <a:t>Exactly 2 outliers removed </a:t>
            </a:r>
            <a:r>
              <a:rPr sz="1400" b="0" i="0">
                <a:solidFill>
                  <a:srgbClr val="262626"/>
                </a:solidFill>
                <a:latin typeface="Calibri"/>
              </a:rPr>
              <a:t>(partial sales, Ids 524 &amp; 1299); 39 luxury rows above the IQR fence kept — they are signal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95959"/>
                </a:solidFill>
                <a:latin typeface="Calibri"/>
              </a:rPr>
              <a:t>PropPulse — Project Review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473952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95959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91695" cy="38100"/>
          </a:xfrm>
          <a:prstGeom prst="rect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247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BDD0EA"/>
                </a:solidFill>
                <a:latin typeface="Calibri"/>
              </a:rPr>
              <a:t>SPEAKER 4 • ~40 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2471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EDA — Seasonality &amp; the Sale-Speed Target</a:t>
            </a:r>
          </a:p>
        </p:txBody>
      </p:sp>
      <p:pic>
        <p:nvPicPr>
          <p:cNvPr id="6" name="Picture 5" descr="14_season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840129"/>
            <a:ext cx="5760720" cy="1863541"/>
          </a:xfrm>
          <a:prstGeom prst="rect">
            <a:avLst/>
          </a:prstGeom>
        </p:spPr>
      </p:pic>
      <p:pic>
        <p:nvPicPr>
          <p:cNvPr id="7" name="Picture 6" descr="10_days_on_mark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852564"/>
            <a:ext cx="5394960" cy="214703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37960" y="4709160"/>
            <a:ext cx="5257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Aft>
                <a:spcPts val="800"/>
              </a:spcAft>
            </a:pPr>
            <a:r>
              <a:rPr sz="1400" b="1">
                <a:solidFill>
                  <a:srgbClr val="2E75B6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262626"/>
                </a:solidFill>
                <a:latin typeface="Calibri"/>
              </a:rPr>
              <a:t>Volume strongly seasonal: July peak (167) vs Feb trough (27); price level barely moves</a:t>
            </a:r>
          </a:p>
          <a:p>
            <a:pPr>
              <a:lnSpc>
                <a:spcPct val="104000"/>
              </a:lnSpc>
              <a:spcAft>
                <a:spcPts val="800"/>
              </a:spcAft>
            </a:pPr>
            <a:r>
              <a:rPr sz="1400" b="1">
                <a:solidFill>
                  <a:srgbClr val="2E75B6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262626"/>
                </a:solidFill>
                <a:latin typeface="Calibri"/>
              </a:rPr>
              <a:t>Median price 2006→2008 +0.6% — no regime break at the split boundary</a:t>
            </a:r>
          </a:p>
          <a:p>
            <a:pPr>
              <a:lnSpc>
                <a:spcPct val="104000"/>
              </a:lnSpc>
              <a:spcAft>
                <a:spcPts val="800"/>
              </a:spcAft>
            </a:pPr>
            <a:r>
              <a:rPr sz="1400" b="1">
                <a:solidFill>
                  <a:srgbClr val="2E75B6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262626"/>
                </a:solidFill>
                <a:latin typeface="Calibri"/>
              </a:rPr>
              <a:t>Simulated DOM: </a:t>
            </a:r>
            <a:r>
              <a:rPr sz="1400" b="0" i="0">
                <a:solidFill>
                  <a:srgbClr val="262626"/>
                </a:solidFill>
                <a:latin typeface="Calibri"/>
              </a:rPr>
              <a:t>median 41 d; 25.3% fast-sale → class-imbalance-aware modeling, PR-AUC primary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95959"/>
                </a:solidFill>
                <a:latin typeface="Calibri"/>
              </a:rPr>
              <a:t>PropPulse — Project Review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473952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95959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91695" cy="38100"/>
          </a:xfrm>
          <a:prstGeom prst="rect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247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BDD0EA"/>
                </a:solidFill>
                <a:latin typeface="Calibri"/>
              </a:rPr>
              <a:t>SPEAKER 5 • ~40 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2471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What the EDA Tells Us to Build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111556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Aft>
                <a:spcPts val="800"/>
              </a:spcAft>
            </a:pPr>
            <a:r>
              <a:rPr sz="1600" b="1">
                <a:solidFill>
                  <a:srgbClr val="2E75B6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262626"/>
                </a:solidFill>
                <a:latin typeface="Calibri"/>
              </a:rPr>
              <a:t>1. Log target is mandatory </a:t>
            </a:r>
            <a:r>
              <a:rPr sz="1600" b="0" i="0">
                <a:solidFill>
                  <a:srgbClr val="262626"/>
                </a:solidFill>
                <a:latin typeface="Calibri"/>
              </a:rPr>
              <a:t>— skew 1.967 → 0.175 under log1p; RMSLE primary (ADR-10)</a:t>
            </a:r>
          </a:p>
          <a:p>
            <a:pPr>
              <a:lnSpc>
                <a:spcPct val="104000"/>
              </a:lnSpc>
              <a:spcAft>
                <a:spcPts val="800"/>
              </a:spcAft>
            </a:pPr>
            <a:r>
              <a:rPr sz="1600" b="1">
                <a:solidFill>
                  <a:srgbClr val="2E75B6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262626"/>
                </a:solidFill>
                <a:latin typeface="Calibri"/>
              </a:rPr>
              <a:t>2. Tree ensembles should beat plain linear models </a:t>
            </a:r>
            <a:r>
              <a:rPr sz="1600" b="0" i="0">
                <a:solidFill>
                  <a:srgbClr val="262626"/>
                </a:solidFill>
                <a:latin typeface="Calibri"/>
              </a:rPr>
              <a:t>— non-linear size effects, non-monotone age/condition, quality×neighborhood interactions; keep a regularized linear baseline for interpretability</a:t>
            </a:r>
          </a:p>
          <a:p>
            <a:pPr>
              <a:lnSpc>
                <a:spcPct val="104000"/>
              </a:lnSpc>
              <a:spcAft>
                <a:spcPts val="800"/>
              </a:spcAft>
            </a:pPr>
            <a:r>
              <a:rPr sz="1600" b="1">
                <a:solidFill>
                  <a:srgbClr val="2E75B6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262626"/>
                </a:solidFill>
                <a:latin typeface="Calibri"/>
              </a:rPr>
              <a:t>3. Expected feature hierarchy </a:t>
            </a:r>
            <a:r>
              <a:rPr sz="1600" b="0" i="0">
                <a:solidFill>
                  <a:srgbClr val="262626"/>
                </a:solidFill>
                <a:latin typeface="Calibri"/>
              </a:rPr>
              <a:t>— OverallQual &gt; size block (GrLivArea, TotalBsmtSF, Garage*, total_bath) &gt; neighborhood &gt; age; read importance in groups</a:t>
            </a:r>
          </a:p>
          <a:p>
            <a:pPr>
              <a:lnSpc>
                <a:spcPct val="104000"/>
              </a:lnSpc>
              <a:spcAft>
                <a:spcPts val="800"/>
              </a:spcAft>
            </a:pPr>
            <a:r>
              <a:rPr sz="1600" b="1">
                <a:solidFill>
                  <a:srgbClr val="2E75B6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262626"/>
                </a:solidFill>
                <a:latin typeface="Calibri"/>
              </a:rPr>
              <a:t>4. Leakage guards (hard rules) </a:t>
            </a:r>
            <a:r>
              <a:rPr sz="1600" b="0" i="0">
                <a:solidFill>
                  <a:srgbClr val="262626"/>
                </a:solidFill>
                <a:latin typeface="Calibri"/>
              </a:rPr>
              <a:t>— price_per_sqft is EDA-only; all stats fit on train only; SaleType/SaleCondition excluded; DOM columns never features</a:t>
            </a:r>
          </a:p>
          <a:p>
            <a:pPr>
              <a:lnSpc>
                <a:spcPct val="104000"/>
              </a:lnSpc>
              <a:spcAft>
                <a:spcPts val="800"/>
              </a:spcAft>
            </a:pPr>
            <a:r>
              <a:rPr sz="1600" b="1">
                <a:solidFill>
                  <a:srgbClr val="2E75B6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262626"/>
                </a:solidFill>
                <a:latin typeface="Calibri"/>
              </a:rPr>
              <a:t>5. Classification is imbalance-aware </a:t>
            </a:r>
            <a:r>
              <a:rPr sz="1600" b="0" i="0">
                <a:solidFill>
                  <a:srgbClr val="262626"/>
                </a:solidFill>
                <a:latin typeface="Calibri"/>
              </a:rPr>
              <a:t>— 25.3% fast-sale (simulated) → class weights, PR-AUC primary, calibration check</a:t>
            </a:r>
          </a:p>
          <a:p>
            <a:pPr>
              <a:lnSpc>
                <a:spcPct val="104000"/>
              </a:lnSpc>
              <a:spcAft>
                <a:spcPts val="800"/>
              </a:spcAft>
            </a:pPr>
            <a:r>
              <a:rPr sz="1600" b="1">
                <a:solidFill>
                  <a:srgbClr val="2E75B6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262626"/>
                </a:solidFill>
                <a:latin typeface="Calibri"/>
              </a:rPr>
              <a:t>6. Clustering grain </a:t>
            </a:r>
            <a:r>
              <a:rPr sz="1600" b="0" i="0">
                <a:solidFill>
                  <a:srgbClr val="262626"/>
                </a:solidFill>
                <a:latin typeface="Calibri"/>
              </a:rPr>
              <a:t>— neighborhood-level median $/sqft + sale velocity + coordinates for DBSCAN micro-markets (3.18× spread)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95959"/>
                </a:solidFill>
                <a:latin typeface="Calibri"/>
              </a:rPr>
              <a:t>PropPulse — Project Review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73952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95959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91695" cy="38100"/>
          </a:xfrm>
          <a:prstGeom prst="rect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247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BDD0EA"/>
                </a:solidFill>
                <a:latin typeface="Calibri"/>
              </a:rPr>
              <a:t>SPEAKER 5 • ~45 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2471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Git Repository &amp; Work Completed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6217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Aft>
                <a:spcPts val="800"/>
              </a:spcAft>
            </a:pPr>
            <a:r>
              <a:rPr sz="1500" b="1">
                <a:solidFill>
                  <a:srgbClr val="2E75B6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262626"/>
                </a:solidFill>
                <a:latin typeface="Calibri"/>
              </a:rPr>
              <a:t>Repo: </a:t>
            </a:r>
            <a:r>
              <a:rPr sz="1500" b="1" i="0">
                <a:solidFill>
                  <a:srgbClr val="2E75B6"/>
                </a:solidFill>
                <a:latin typeface="Calibri"/>
              </a:rPr>
              <a:t>github.com/rushmanthnalluri/prop-pulse</a:t>
            </a:r>
            <a:r>
              <a:rPr sz="1500" b="0" i="0">
                <a:solidFill>
                  <a:srgbClr val="262626"/>
                </a:solidFill>
                <a:latin typeface="Calibri"/>
              </a:rPr>
              <a:t>  (branch: main)</a:t>
            </a:r>
          </a:p>
          <a:p>
            <a:pPr>
              <a:lnSpc>
                <a:spcPct val="104000"/>
              </a:lnSpc>
              <a:spcAft>
                <a:spcPts val="800"/>
              </a:spcAft>
            </a:pPr>
            <a:r>
              <a:rPr sz="1500" b="1">
                <a:solidFill>
                  <a:srgbClr val="2E75B6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262626"/>
                </a:solidFill>
                <a:latin typeface="Calibri"/>
              </a:rPr>
              <a:t>Reproducible EDA: </a:t>
            </a:r>
            <a:r>
              <a:rPr sz="1500" b="0" i="0">
                <a:solidFill>
                  <a:srgbClr val="262626"/>
                </a:solidFill>
                <a:latin typeface="Calibri"/>
              </a:rPr>
              <a:t>notebooks/01_eda.ipynb fully executed (16/16 cells, 0 errors) + builder script; re-run reproduces all 14 figures identically</a:t>
            </a:r>
          </a:p>
          <a:p>
            <a:pPr>
              <a:lnSpc>
                <a:spcPct val="104000"/>
              </a:lnSpc>
              <a:spcAft>
                <a:spcPts val="800"/>
              </a:spcAft>
            </a:pPr>
            <a:r>
              <a:rPr sz="1500" b="1">
                <a:solidFill>
                  <a:srgbClr val="2E75B6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262626"/>
                </a:solidFill>
                <a:latin typeface="Calibri"/>
              </a:rPr>
              <a:t>Committed artifacts: </a:t>
            </a:r>
            <a:r>
              <a:rPr sz="1500" b="0" i="0">
                <a:solidFill>
                  <a:srgbClr val="262626"/>
                </a:solidFill>
                <a:latin typeface="Calibri"/>
              </a:rPr>
              <a:t>data pipeline (train/val/test splits), EDA report (reports/EDA_REPORT.md), figures/, spec + ADRs in docs/</a:t>
            </a:r>
          </a:p>
          <a:p>
            <a:pPr>
              <a:lnSpc>
                <a:spcPct val="104000"/>
              </a:lnSpc>
              <a:spcAft>
                <a:spcPts val="800"/>
              </a:spcAft>
            </a:pPr>
            <a:r>
              <a:rPr sz="1500" b="1">
                <a:solidFill>
                  <a:srgbClr val="2E75B6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262626"/>
                </a:solidFill>
                <a:latin typeface="Calibri"/>
              </a:rPr>
              <a:t>Verified engineering: </a:t>
            </a:r>
            <a:r>
              <a:rPr sz="1500" b="0" i="0">
                <a:solidFill>
                  <a:srgbClr val="262626"/>
                </a:solidFill>
                <a:latin typeface="Calibri"/>
              </a:rPr>
              <a:t>454 automated tests pass, CI on every push, Docker build verified, 49/49 browser E2E tests</a:t>
            </a:r>
          </a:p>
          <a:p>
            <a:pPr>
              <a:lnSpc>
                <a:spcPct val="104000"/>
              </a:lnSpc>
              <a:spcAft>
                <a:spcPts val="800"/>
              </a:spcAft>
            </a:pPr>
            <a:r>
              <a:rPr sz="1500" b="1">
                <a:solidFill>
                  <a:srgbClr val="2E75B6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62626"/>
                </a:solidFill>
                <a:latin typeface="Calibri"/>
              </a:rPr>
              <a:t>Decisions tracked as ADRs in docs/DECISIONS.md (split, log target, geo fallback, simulated DOM, clustering)</a:t>
            </a:r>
          </a:p>
        </p:txBody>
      </p:sp>
      <p:sp>
        <p:nvSpPr>
          <p:cNvPr id="7" name="Rectangle 6"/>
          <p:cNvSpPr/>
          <p:nvPr/>
        </p:nvSpPr>
        <p:spPr>
          <a:xfrm>
            <a:off x="6995160" y="1325880"/>
            <a:ext cx="4709160" cy="484632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59752" y="1417320"/>
            <a:ext cx="437997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1F3864"/>
                </a:solidFill>
                <a:latin typeface="Calibri"/>
              </a:rPr>
              <a:t>Repository layout (top level)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59752" y="1801368"/>
            <a:ext cx="4379976" cy="4279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262626"/>
                </a:solidFill>
                <a:latin typeface="Calibri"/>
              </a:rPr>
              <a:t>ml/        data · features · training · evaluation · clustering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262626"/>
                </a:solidFill>
                <a:latin typeface="Calibri"/>
              </a:rPr>
              <a:t>backend/   FastAPI service + API tests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262626"/>
                </a:solidFill>
                <a:latin typeface="Calibri"/>
              </a:rPr>
              <a:t>frontend/  React dashboard (Vite)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262626"/>
                </a:solidFill>
                <a:latin typeface="Calibri"/>
              </a:rPr>
              <a:t>notebooks/ 01_eda.ipynb (reproducible)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262626"/>
                </a:solidFill>
                <a:latin typeface="Calibri"/>
              </a:rPr>
              <a:t>figures/   14 EDA figures (PNG, 150 dpi)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262626"/>
                </a:solidFill>
                <a:latin typeface="Calibri"/>
              </a:rPr>
              <a:t>reports/   EDA_REPORT · MODEL_EVALUATION · audits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262626"/>
                </a:solidFill>
                <a:latin typeface="Calibri"/>
              </a:rPr>
              <a:t>models/    versioned artifacts + champion registry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262626"/>
                </a:solidFill>
                <a:latin typeface="Calibri"/>
              </a:rPr>
              <a:t>docs/      SPEC · DECISIONS (ADRs) · ARCHITECTURE · API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262626"/>
                </a:solidFill>
                <a:latin typeface="Calibri"/>
              </a:rPr>
              <a:t>tests/     unit + integration • e2e/ Playwright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262626"/>
                </a:solidFill>
                <a:latin typeface="Calibri"/>
              </a:rPr>
              <a:t>docker/    Dockerfiles • .github/workflows CI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95959"/>
                </a:solidFill>
                <a:latin typeface="Calibri"/>
              </a:rPr>
              <a:t>PropPulse — Project Review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473952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95959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91695" cy="38100"/>
          </a:xfrm>
          <a:prstGeom prst="rect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247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BDD0EA"/>
                </a:solidFill>
                <a:latin typeface="Calibri"/>
              </a:rPr>
              <a:t>SPEAKER 5 • ~30 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2471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Plan Toward Review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11155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Aft>
                <a:spcPts val="800"/>
              </a:spcAft>
            </a:pPr>
            <a:r>
              <a:rPr sz="1600" b="1">
                <a:solidFill>
                  <a:srgbClr val="2E75B6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2E7D32"/>
                </a:solidFill>
                <a:latin typeface="Calibri"/>
              </a:rPr>
              <a:t>Done ✓ </a:t>
            </a:r>
            <a:r>
              <a:rPr sz="1600" b="0" i="0">
                <a:solidFill>
                  <a:srgbClr val="262626"/>
                </a:solidFill>
                <a:latin typeface="Calibri"/>
              </a:rPr>
              <a:t>problem definition · dataset + cleaning · time-based split · full EDA (this review) · repo + reproducibility</a:t>
            </a:r>
          </a:p>
          <a:p>
            <a:pPr>
              <a:lnSpc>
                <a:spcPct val="104000"/>
              </a:lnSpc>
              <a:spcAft>
                <a:spcPts val="800"/>
              </a:spcAft>
            </a:pPr>
            <a:r>
              <a:rPr sz="1600" b="1">
                <a:solidFill>
                  <a:srgbClr val="2E75B6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262626"/>
                </a:solidFill>
                <a:latin typeface="Calibri"/>
              </a:rPr>
              <a:t>Next — modeling: </a:t>
            </a:r>
            <a:r>
              <a:rPr sz="1600" b="0" i="0">
                <a:solidFill>
                  <a:srgbClr val="262626"/>
                </a:solidFill>
                <a:latin typeface="Calibri"/>
              </a:rPr>
              <a:t>finalize 94-feature pipeline; train 5 regression + 4 classification candidates with 5-fold CV on train only</a:t>
            </a:r>
          </a:p>
          <a:p>
            <a:pPr lvl="1">
              <a:lnSpc>
                <a:spcPct val="104000"/>
              </a:lnSpc>
              <a:spcAft>
                <a:spcPts val="400"/>
              </a:spcAft>
            </a:pPr>
            <a:r>
              <a:rPr sz="1400" b="1">
                <a:solidFill>
                  <a:srgbClr val="595959"/>
                </a:solidFill>
                <a:latin typeface="Calibri"/>
              </a:rPr>
              <a:t>–  </a:t>
            </a:r>
            <a:r>
              <a:rPr sz="1400" b="0" i="0">
                <a:solidFill>
                  <a:srgbClr val="262626"/>
                </a:solidFill>
                <a:latin typeface="Calibri"/>
              </a:rPr>
              <a:t>Champion selection on validation (RMSLE / PR-AUC) + paired-bootstrap significance test; evaluate sealed test once</a:t>
            </a:r>
          </a:p>
          <a:p>
            <a:pPr>
              <a:lnSpc>
                <a:spcPct val="104000"/>
              </a:lnSpc>
              <a:spcAft>
                <a:spcPts val="800"/>
              </a:spcAft>
            </a:pPr>
            <a:r>
              <a:rPr sz="1600" b="1">
                <a:solidFill>
                  <a:srgbClr val="2E75B6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262626"/>
                </a:solidFill>
                <a:latin typeface="Calibri"/>
              </a:rPr>
              <a:t>Then — productization: </a:t>
            </a:r>
            <a:r>
              <a:rPr sz="1600" b="0" i="0">
                <a:solidFill>
                  <a:srgbClr val="262626"/>
                </a:solidFill>
                <a:latin typeface="Calibri"/>
              </a:rPr>
              <a:t>SHAP artifacts, FastAPI serving, React dashboard polish, drift monitoring, Docker packaging</a:t>
            </a:r>
          </a:p>
          <a:p>
            <a:pPr>
              <a:lnSpc>
                <a:spcPct val="104000"/>
              </a:lnSpc>
              <a:spcAft>
                <a:spcPts val="800"/>
              </a:spcAft>
            </a:pPr>
            <a:r>
              <a:rPr sz="1600" b="1">
                <a:solidFill>
                  <a:srgbClr val="2E75B6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262626"/>
                </a:solidFill>
                <a:latin typeface="Calibri"/>
              </a:rPr>
              <a:t>Stretch: </a:t>
            </a:r>
            <a:r>
              <a:rPr sz="1600" b="0" i="0">
                <a:solidFill>
                  <a:srgbClr val="262626"/>
                </a:solidFill>
                <a:latin typeface="Calibri"/>
              </a:rPr>
              <a:t>real days-on-market + real geocoding via the ready adapters, then retrain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80644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1F3864"/>
                </a:solidFill>
                <a:latin typeface="Calibri"/>
              </a:rPr>
              <a:t>Thank you — questions welcome.  </a:t>
            </a:r>
            <a:r>
              <a:rPr sz="1400" b="0" i="0">
                <a:solidFill>
                  <a:srgbClr val="2E75B6"/>
                </a:solidFill>
                <a:latin typeface="Calibri"/>
              </a:rPr>
              <a:t>github.com/rushmanthnalluri/prop-pulse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95959"/>
                </a:solidFill>
                <a:latin typeface="Calibri"/>
              </a:rPr>
              <a:t>PropPulse — Project Review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95959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