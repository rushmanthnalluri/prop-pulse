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(15 s, Rushmanth): We are team PropPulse — Rushmanth, Mastan and Deepak. Our project predicts a home's sale price, its probability of selling within 30 days, and its micro-market segment for residential real estate in Ames, Iowa, and explains every estimate. Speaker plan: Rushmanth slides 2–4 + closing, Mastan slides 5–7 (EDA part 1), Deepak slides 8–11 (EDA part 2 + repo). Total ~5 min. Fill in the guide name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Rushmanth (~35 s): Property pricing is opaque. We answer three questions per home — how much, how fast, which micro-market — and the bar we set ourselves is that every number comes with an explanation and ships inside a working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Rushmanth (~30 s): Summarize, don't read: three predictions per property, honest leakage-safe methodology with a sealed test set, and a full product stack. Then hand over to Mastan via the dataset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Rushmanth (~35 s): Six objectives — O1 and O2 are done and are today's subject. The dataset is the standard Ames benchmark; emphasize the TIME-BASED split and the sealed 2010 test set, and be upfront about the two documented data fallbacks. Hand over to Mastan for the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Mastan (~35 s): First finding is about the target itself — heavily right-skewed, near-symmetric after log1p. So we train on log-price and use RMSLE. Dollar-per-sqft being tight tells us most of the skew is just house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Mastan (~35 s): OverallQual dominates at r = 0.79 and the quality ladder is roughly exponential in dollars — more support for the log target. Then the size block; our engineered amenity_count already hits 0.61. Flag multicollinearity — it is why we keep trees plus a regularized linear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Mastan (~30 s): The 25 neighborhoods span a 3.18× median-price spread, and the map shows premium areas in the north/northwest while distance to downtown explains almost nothing. Location value IS neighborhood identity — that is what justifies our neighborhood statistics and the DBSCAN clustering. Hand over to Deepak.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Deepak (~30 s): Missingness looks scary but is almost entirely structural — the feature is absent, so we fill ‘None’ per the official data description; only LotFrontage is genuinely imputed. Outliers: exactly two verified partial sales removed; the luxury tail stays because it is exactly the signal a valuation model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Deepak (~30 s): Seasonality is a volume effect, not a price effect, and prices are flat across 2006–2008 — our time-based split faces no distribution shock. Right: the simulated days-on-market target, median 41 days, one in four sales fast. Every classification metric will carry the simulated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Deepak (~30 s): Every finding maps to a design decision — walk the six quickly. This is the bridge from analysis to the build plan: log target, the two model families, the feature hierarchy, the four leakage rules, imbalance-aware classification, and the clustering grain.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Deepak (~30 s): The repository is the evidence — give the URL. The EDA notebook re-runs end-to-end and reproduces every figure; engineering hygiene is real: 454 tests, browser E2E, CI, Docker, and every design decision recorded as an ADR. Hand back to Rushmanth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Rushmanth (~25 s): Close — EDA and repository are complete; next is model training and champion selection, then the serving layer. Thank the panel, invite questions. TOTAL ~5 minutes across the three of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371600"/>
            <a:ext cx="868680" cy="444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D6EC"/>
                </a:solidFill>
                <a:latin typeface="Calibri"/>
              </a:rPr>
              <a:t>PROJECT REVIEW 1   · 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PropPulse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3580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C9D6EC"/>
                </a:solidFill>
                <a:latin typeface="Calibri"/>
              </a:rPr>
              <a:t>ML-Driven Property Valuation &amp; Market Intelligence  —  Ames, Iowa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13632"/>
            <a:ext cx="7315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Rushmanth Nalluri</a:t>
            </a:r>
            <a:r>
              <a:rPr sz="1400" b="0" i="0">
                <a:solidFill>
                  <a:srgbClr val="C9D6EC"/>
                </a:solidFill>
                <a:latin typeface="Calibri"/>
              </a:rPr>
              <a:t>    2500030215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Sk Mastan Saheb</a:t>
            </a:r>
            <a:r>
              <a:rPr sz="1400" b="0" i="0">
                <a:solidFill>
                  <a:srgbClr val="C9D6EC"/>
                </a:solidFill>
                <a:latin typeface="Calibri"/>
              </a:rPr>
              <a:t>    2500030370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Rayala Deepak</a:t>
            </a:r>
            <a:r>
              <a:rPr sz="1400" b="0" i="0">
                <a:solidFill>
                  <a:srgbClr val="C9D6EC"/>
                </a:solidFill>
                <a:latin typeface="Calibri"/>
              </a:rPr>
              <a:t>    2500030717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Under the guidance of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Guide Name, Designation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C9D6EC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806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C9D6EC"/>
                </a:solidFill>
                <a:latin typeface="Calibri"/>
              </a:rPr>
              <a:t>github.com/rushmanthnalluri/prop-pulse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173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212121"/>
                </a:solidFill>
                <a:latin typeface="Calibri"/>
              </a:rPr>
              <a:t>Residential property pricing is opaque — buyers, sellers and agents get a number, but rarely an explanation </a:t>
            </a:r>
            <a:r>
              <a:rPr sz="2000" b="0" i="1">
                <a:solidFill>
                  <a:srgbClr val="212121"/>
                </a:solidFill>
                <a:latin typeface="Calibri"/>
              </a:rPr>
              <a:t>why</a:t>
            </a:r>
            <a:r>
              <a:rPr sz="2000" b="0" i="0">
                <a:solidFill>
                  <a:srgbClr val="212121"/>
                </a:solidFill>
                <a:latin typeface="Calibri"/>
              </a:rPr>
              <a:t> it is that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14600"/>
            <a:ext cx="3419856" cy="228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3419856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9626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How much is it worth?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626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212121"/>
                </a:solidFill>
                <a:latin typeface="Calibri"/>
              </a:rPr>
              <a:t>Sale price in dollars, with an ~80% prediction interval (regression on log-price).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514600"/>
            <a:ext cx="3419856" cy="228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2514600"/>
            <a:ext cx="3419856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743200"/>
            <a:ext cx="29626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How fast will it sell?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429000"/>
            <a:ext cx="29626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212121"/>
                </a:solidFill>
                <a:latin typeface="Calibri"/>
              </a:rPr>
              <a:t>Calibrated probability of selling within 30 days (classification).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2514600"/>
            <a:ext cx="3419856" cy="228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2514600"/>
            <a:ext cx="3419856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743200"/>
            <a:ext cx="29626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Which market is it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429000"/>
            <a:ext cx="29626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212121"/>
                </a:solidFill>
                <a:latin typeface="Calibri"/>
              </a:rPr>
              <a:t>Micro-market segment from 25 Ames neighborhoods (DBSCAN clustering).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8173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The bar we set: </a:t>
            </a:r>
            <a:r>
              <a:rPr sz="1700" b="0" i="0">
                <a:solidFill>
                  <a:srgbClr val="212121"/>
                </a:solidFill>
                <a:latin typeface="Calibri"/>
              </a:rPr>
              <a:t>every estimate explained with SHAP factors and served as a real product — FastAPI backend + React dashboard — not just a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PropPulse is an end-to-end ML platform for residential property valuation in Ames, Iowa (Kaggle “House Prices”, 1,460 sales, 2006–2010). It predicts a home’s sale price in dollars, the probability it sells within 30 days, and its micro-market segment — and explains each prediction with SHAP factors.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The methodology is leakage-safe by construction: a time-based split (train ≤ 2008, validation 2009, sealed test 2010), all statistics fit on train only, and one feature pipeline shared by training and serving. Models are served by a FastAPI backend and a React dashboard, tracked with MLflow, monitored for drift with PSI, and packaged with Docker.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500" b="0" i="1">
                <a:solidFill>
                  <a:srgbClr val="666666"/>
                </a:solidFill>
                <a:latin typeface="Calibri"/>
              </a:rPr>
              <a:t>This review: problem statement, the completed exploratory data analysis (14 figures, reproducible notebook), and the project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Objectives &amp;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Six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O1  </a:t>
            </a:r>
            <a:r>
              <a:rPr sz="155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Data pipeline — clean, validate, time-split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O2  </a:t>
            </a:r>
            <a:r>
              <a:rPr sz="1550" b="1" i="0">
                <a:solidFill>
                  <a:srgbClr val="2E7D32"/>
                </a:solidFill>
                <a:latin typeface="Calibri"/>
              </a:rPr>
              <a:t>✓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EDA — 14 figures, reproducible (this review)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O3  </a:t>
            </a:r>
            <a:r>
              <a:rPr sz="1550" b="0" i="0">
                <a:solidFill>
                  <a:srgbClr val="666666"/>
                </a:solidFill>
                <a:latin typeface="Calibri"/>
              </a:rPr>
              <a:t>  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94-feature pipeline, shared train ↔ serve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O4  </a:t>
            </a:r>
            <a:r>
              <a:rPr sz="1550" b="0" i="0">
                <a:solidFill>
                  <a:srgbClr val="666666"/>
                </a:solidFill>
                <a:latin typeface="Calibri"/>
              </a:rPr>
              <a:t>  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5 regression + 4 classification candidates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O5  </a:t>
            </a:r>
            <a:r>
              <a:rPr sz="1550" b="0" i="0">
                <a:solidFill>
                  <a:srgbClr val="666666"/>
                </a:solidFill>
                <a:latin typeface="Calibri"/>
              </a:rPr>
              <a:t>  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SHAP explainability, global + per-prediction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O6  </a:t>
            </a:r>
            <a:r>
              <a:rPr sz="1550" b="0" i="0">
                <a:solidFill>
                  <a:srgbClr val="666666"/>
                </a:solidFill>
                <a:latin typeface="Calibri"/>
              </a:rPr>
              <a:t>  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FastAPI + React + drift monitoring +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06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E7D32"/>
                </a:solidFill>
                <a:latin typeface="Calibri"/>
              </a:rPr>
              <a:t>✓ = complete and in the repository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12700" cy="4572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Dataset — Ames, Iowa housing (Kaggle, De Cock 2011)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1,460 rows × 81 columns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of residential sales, 2006–2010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Time-based split: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train ≤ 2008 (945) · val 2009 (338) · test 2010 (175, sealed)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Cleaning: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structural NAs → “None”; only LotFrontage imputed (train-fit medians); 2 partial-sale outliers removed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Honest fallbacks: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neighborhood-centroid coordinates (ADR-2); simulated days-on-market, always labelled (ADR-3)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0749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$165k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60527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median price
(train, n = 945)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0749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3.18×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60527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price spread across
25 neighborhoods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074920"/>
            <a:ext cx="146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25.3%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605272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fast-sale rate
(simulated target)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EDA — The Target Is Right-Skewed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01_sale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46689"/>
            <a:ext cx="6858000" cy="26961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00200"/>
            <a:ext cx="39776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Skewness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1.967 → 0.175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 after log1p — near-symmetric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Mean sits ~10% above median — a premium tail to $755k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Errors scale with price → multiplicative model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50" b="1">
                <a:solidFill>
                  <a:srgbClr val="C9A227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$/sqft is tight (skew 0.43): the skew is a </a:t>
            </a:r>
            <a:r>
              <a:rPr sz="1550" b="1" i="0">
                <a:solidFill>
                  <a:srgbClr val="212121"/>
                </a:solidFill>
                <a:latin typeface="Calibri"/>
              </a:rPr>
              <a:t>size effect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, not a price-level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4892040"/>
            <a:ext cx="3977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Decision (ADR-10): </a:t>
            </a:r>
            <a:r>
              <a:rPr sz="1550" b="0" i="0">
                <a:solidFill>
                  <a:srgbClr val="212121"/>
                </a:solidFill>
                <a:latin typeface="Calibri"/>
              </a:rPr>
              <a:t>train on log1p(SalePrice), RMSLE as the primary metric, report dollars via expm1.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EDA — What Drives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11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59" y="1325880"/>
            <a:ext cx="5673242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55448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0.79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084832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OverallQual —
strongest correlate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55448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084832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GrLivArea —
strongest size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1554480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0.61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084832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amenity_count
(engineered)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632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Quality ladder is exponential: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$109k → $466k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median, grade 4 → 10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Size block follows: TotalBsmtSF 0.64, total_bath 0.64, GarageCars 0.63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Age r = −0.49, but non-monotone — old character homes command premiums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Heavy multicollinearity 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(GarageCars↔GarageArea 0.89) → trees or regularized linear; read importance in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EDA — Location: Neighborhood Is the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09_neighborhood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29" y="1325880"/>
            <a:ext cx="5507501" cy="4937760"/>
          </a:xfrm>
          <a:prstGeom prst="rect">
            <a:avLst/>
          </a:prstGeom>
        </p:spPr>
      </p:pic>
      <p:pic>
        <p:nvPicPr>
          <p:cNvPr id="8" name="Picture 7" descr="08_geo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452" y="1325880"/>
            <a:ext cx="3634856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Median prices span </a:t>
            </a:r>
            <a:r>
              <a:rPr sz="1450" b="1" i="0">
                <a:solidFill>
                  <a:srgbClr val="1F3864"/>
                </a:solidFill>
                <a:latin typeface="Calibri"/>
              </a:rPr>
              <a:t>3.18×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— NridgHt $318k vs BrDale $100k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Premium $/sqft sits north/northwest; distance to downtown only r = +0.28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121"/>
                </a:solidFill>
                <a:latin typeface="Calibri"/>
              </a:rPr>
              <a:t>→ neighborhood identity, not radial distance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— justifies neighborhood stats + DBSCAN micro-markets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EDA — Data Quality: Missingness &amp; Outliers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12_missingnes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3420"/>
            <a:ext cx="5852159" cy="4282679"/>
          </a:xfrm>
          <a:prstGeom prst="rect">
            <a:avLst/>
          </a:prstGeom>
        </p:spPr>
      </p:pic>
      <p:pic>
        <p:nvPicPr>
          <p:cNvPr id="8" name="Picture 7" descr="13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03748"/>
            <a:ext cx="5074920" cy="20446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7091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19 raw columns with NAs — nearly all </a:t>
            </a:r>
            <a:r>
              <a:rPr sz="1450" b="1" i="0">
                <a:solidFill>
                  <a:srgbClr val="212121"/>
                </a:solidFill>
                <a:latin typeface="Calibri"/>
              </a:rPr>
              <a:t>structural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(PoolQC 99.5%) → “None”, not imputed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Only LotFrontage (17.7%) truly imputed — train-fit neighborhood medians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121"/>
                </a:solidFill>
                <a:latin typeface="Calibri"/>
              </a:rPr>
              <a:t>Exactly 2 outliers removed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(partial sales); the 39 luxury rows above the IQR fence are signal — kept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EDA — Seasonality &amp; the Sale-Speed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14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48199"/>
            <a:ext cx="5852160" cy="1893121"/>
          </a:xfrm>
          <a:prstGeom prst="rect">
            <a:avLst/>
          </a:prstGeom>
        </p:spPr>
      </p:pic>
      <p:pic>
        <p:nvPicPr>
          <p:cNvPr id="8" name="Picture 7" descr="10_days_on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16247"/>
            <a:ext cx="5074920" cy="20196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7091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Volume is seasonal — July 167 sales vs Feb 27 — but </a:t>
            </a:r>
            <a:r>
              <a:rPr sz="1450" b="1" i="0">
                <a:solidFill>
                  <a:srgbClr val="212121"/>
                </a:solidFill>
                <a:latin typeface="Calibri"/>
              </a:rPr>
              <a:t>price level barely moves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Median price 2006→2008: +0.6% — no shock at the split boundary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121"/>
                </a:solidFill>
                <a:latin typeface="Calibri"/>
              </a:rPr>
              <a:t>Simulated DOM:</a:t>
            </a:r>
            <a:r>
              <a:rPr sz="1450" b="0" i="0">
                <a:solidFill>
                  <a:srgbClr val="212121"/>
                </a:solidFill>
                <a:latin typeface="Calibri"/>
              </a:rPr>
              <a:t> median 41 d, 25.3% fast → imbalance-aware modeling, PR-AUC primary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What the EDA Tells Us to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6304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Log target is mandatory  —  </a:t>
            </a:r>
            <a:r>
              <a:rPr sz="1650" b="0" i="0">
                <a:solidFill>
                  <a:srgbClr val="212121"/>
                </a:solidFill>
                <a:latin typeface="Calibri"/>
              </a:rPr>
              <a:t>skew 1.967 → 0.175; RMSLE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49424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Trees + a regularized linear baseline  —  </a:t>
            </a:r>
            <a:r>
              <a:rPr sz="1650" b="0" i="0">
                <a:solidFill>
                  <a:srgbClr val="212121"/>
                </a:solidFill>
                <a:latin typeface="Calibri"/>
              </a:rPr>
              <a:t>non-linear size effects, non-monotone age; interpretable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35808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Expected feature hierarchy  —  </a:t>
            </a:r>
            <a:r>
              <a:rPr sz="1650" b="0" i="0">
                <a:solidFill>
                  <a:srgbClr val="212121"/>
                </a:solidFill>
                <a:latin typeface="Calibri"/>
              </a:rPr>
              <a:t>OverallQual &gt; size block &gt; neighborhood &gt; age; importance read in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22192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Hard leakage guards  —  </a:t>
            </a:r>
            <a:r>
              <a:rPr sz="1650" b="0" i="0">
                <a:solidFill>
                  <a:srgbClr val="212121"/>
                </a:solidFill>
                <a:latin typeface="Calibri"/>
              </a:rPr>
              <a:t>price_per_sqft EDA-only; stats fit on train; SaleType/SaleCondition excluded; DOM never a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08576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08576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Imbalance-aware classification  —  </a:t>
            </a:r>
            <a:r>
              <a:rPr sz="1650" b="0" i="0">
                <a:solidFill>
                  <a:srgbClr val="212121"/>
                </a:solidFill>
                <a:latin typeface="Calibri"/>
              </a:rPr>
              <a:t>25.3% fast-sale → class weights, PR-AUC primary, calibration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9496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F3864"/>
                </a:solidFill>
                <a:latin typeface="Calibri"/>
              </a:rPr>
              <a:t>Neighborhood-grain clustering  —  </a:t>
            </a:r>
            <a:r>
              <a:rPr sz="1650" b="0" i="0">
                <a:solidFill>
                  <a:srgbClr val="212121"/>
                </a:solidFill>
                <a:latin typeface="Calibri"/>
              </a:rPr>
              <a:t>median $/sqft + sale velocity + coordinates for DBSCAN micro-markets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Repository &amp;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github.com/rushmanthnalluri/prop-pulse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  ·  branch main  ·  everything shown today is committed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ml/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 data · features · training · evaluation · clustering · explainability · monitoring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backend/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 FastAPI service + API tests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frontend/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 React dashboard (Vite)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notebooks/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 01_eda.ipynb — fully executed, 16/16 cells, reproduces all 14 figures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reports/ + figures/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 EDA report + audits + all figures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121"/>
                </a:solidFill>
                <a:latin typeface="Calibri"/>
              </a:rPr>
              <a:t>docs/</a:t>
            </a:r>
            <a:r>
              <a:rPr sz="1500" b="0" i="0">
                <a:solidFill>
                  <a:srgbClr val="212121"/>
                </a:solidFill>
                <a:latin typeface="Calibri"/>
              </a:rPr>
              <a:t>  spec, ADRs, architecture, API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2057400"/>
            <a:ext cx="12700" cy="384048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05740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454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58775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automated 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081528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49/49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61188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browser E2E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105656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63600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on every push · Docker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5129784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660136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EDA reproducibility — figures regenerate identically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Plan Toward Review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78992"/>
            <a:ext cx="77724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419088"/>
            <a:ext cx="10817352" cy="1143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PropPulse  ·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30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3419856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3419856" cy="330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962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Done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96265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212121"/>
                </a:solidFill>
                <a:latin typeface="Calibri"/>
              </a:rPr>
              <a:t>Problem definition · dataset, cleaning &amp; time-based split · full EDA (this review) · repository with ADRs, CI,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554480"/>
            <a:ext cx="3419856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554480"/>
            <a:ext cx="3419856" cy="330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83080"/>
            <a:ext cx="2962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Next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31720"/>
            <a:ext cx="296265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212121"/>
                </a:solidFill>
                <a:latin typeface="Calibri"/>
              </a:rPr>
              <a:t>Finalize 94-feature pipeline · train 5 regression + 4 classification candidates (5-fold CV, train only) · champion selection on validation + bootstrap test · one sealed-test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554480"/>
            <a:ext cx="3419856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554480"/>
            <a:ext cx="3419856" cy="330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783080"/>
            <a:ext cx="2962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Then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31720"/>
            <a:ext cx="296265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212121"/>
                </a:solidFill>
                <a:latin typeface="Calibri"/>
              </a:rPr>
              <a:t>SHAP artifacts · FastAPI serving · React dashboard polish · drift monitoring · Docker packaging · stretch: real DOM &amp; geocoding adapters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8173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Thank you — questions welcome.</a:t>
            </a:r>
            <a:r>
              <a:rPr sz="1400" b="0" i="0">
                <a:solidFill>
                  <a:srgbClr val="666666"/>
                </a:solidFill>
                <a:latin typeface="Calibri"/>
              </a:rPr>
              <a:t>    github.com/rushmanthnalluri/prop-pulse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