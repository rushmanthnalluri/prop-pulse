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(15 s, Rushmanth): We are team PropPulse: Rushmanth, Mastan and Deepak. Our project predicts a home's sale price, its probability of selling within 30 days, and its micro-market segment for residential real estate in Ames, Iowa, and explains every estimate. Speaker plan: Rushmanth takes slides 2 to 4 plus the closing, Mastan takes slides 5 to 7 (EDA part 1), Deepak takes slides 8 to 11 (EDA part 2 and the repository). Total about 5 minutes. Fill in the guide name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Rushmanth (about 35 s): Property pricing is opaque. We answer three questions per home: how much, how fast, and which micro-market. The bar we set ourselves is that every number comes with an explanation and ships inside a working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Rushmanth (about 30 s): Summarize, don't read. Three predictions per property, an honest leakage-safe methodology with a sealed test set, and a full product stack. Then move to the dataset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Rushmanth (about 35 s): Six objectives. O1 and O2 are done and are today's subject. The dataset is the standard Ames benchmark. Emphasize the time-based split and the sealed 2010 test set, and be upfront about the two documented data fallbacks. Hand over to Mastan for the EDA.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Mastan (about 35 s): The first finding is about the target itself. Raw prices are heavily right-skewed and nearly symmetric after a log transform, so we train on log price and use RMSLE. Price per square foot being tight tells us most of the skew is just house size.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Mastan (about 35 s): OverallQual dominates with a correlation of 0.79, and the quality ladder is roughly exponential in dollars, which again supports the log target. Then the size block. Our engineered amenity count already reaches 0.61. Flag the multicollinearity: it is why we keep trees plus a regularized linear baseline.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Mastan (about 30 s): The 25 neighborhoods span a 3.18 times median price spread. The map shows premium areas in the north and northwest while distance to downtown explains almost nothing. Location value is neighborhood identity, and that justifies both the neighborhood statistics and the DBSCAN clustering. Hand over to Deepak.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Deepak (about 30 s): The missingness looks scary but is almost entirely structural: the feature is absent, so we fill it as None per the official data description. Only LotFrontage is genuinely imputed. For outliers, exactly two verified partial sales were removed, and the luxury tail stays because it is exactly the signal a valuation model needs.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Deepak (about 30 s): Seasonality is a volume effect, not a price effect, and prices are flat across 2006 to 2008, so our time-based split faces no distribution shock. On the right is the simulated days-on-market target: median 41 days, one in four sales fast. Every classification metric will carry the simulated label.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Deepak (about 30 s): Every finding maps to a design decision. Walk the six quickly: log target, the two model families, the feature hierarchy, the four leakage rules, imbalance-aware classification, and the clustering grain. This is the bridge from analysis to the build 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Deepak (about 30 s): The repository is the evidence, so give the URL. The EDA notebook reruns end to end and reproduces every figure. The engineering hygiene is real: 454 tests, browser end-to-end tests, CI, Docker, and every design decision recorded. Hand back to Rushmanth to close.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Rushmanth (about 25 s): Close with the plan. EDA and the repository are complete; next is model training and champion selection, then the serving layer. Thank the panel and invite questions. Total about 5 minutes across the three of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1371600"/>
            <a:ext cx="868680" cy="4445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27632"/>
            <a:ext cx="10058400" cy="365760"/>
          </a:xfrm>
          <a:prstGeom prst="rect">
            <a:avLst/>
          </a:prstGeom>
          <a:noFill/>
        </p:spPr>
        <p:txBody>
          <a:bodyPr wrap="square" anchor="t">
            <a:spAutoFit/>
          </a:bodyPr>
          <a:lstStyle/>
          <a:p>
            <a:pPr algn="l">
              <a:lnSpc>
                <a:spcPct val="100000"/>
              </a:lnSpc>
              <a:spcAft>
                <a:spcPts val="600"/>
              </a:spcAft>
            </a:pPr>
            <a:r>
              <a:rPr sz="1300" b="1" i="0">
                <a:solidFill>
                  <a:srgbClr val="C9D6EC"/>
                </a:solidFill>
                <a:latin typeface="Calibri"/>
              </a:rPr>
              <a:t>PROJECT REVIEW 1   |   AUGUST 2026</a:t>
            </a:r>
          </a:p>
        </p:txBody>
      </p:sp>
      <p:sp>
        <p:nvSpPr>
          <p:cNvPr id="5" name="TextBox 4"/>
          <p:cNvSpPr txBox="1"/>
          <p:nvPr/>
        </p:nvSpPr>
        <p:spPr>
          <a:xfrm>
            <a:off x="822960" y="1993392"/>
            <a:ext cx="10515600" cy="1097280"/>
          </a:xfrm>
          <a:prstGeom prst="rect">
            <a:avLst/>
          </a:prstGeom>
          <a:noFill/>
        </p:spPr>
        <p:txBody>
          <a:bodyPr wrap="square" anchor="t">
            <a:spAutoFit/>
          </a:bodyPr>
          <a:lstStyle/>
          <a:p>
            <a:pPr algn="l">
              <a:lnSpc>
                <a:spcPct val="100000"/>
              </a:lnSpc>
              <a:spcAft>
                <a:spcPts val="600"/>
              </a:spcAft>
            </a:pPr>
            <a:r>
              <a:rPr sz="6600" b="1" i="0">
                <a:solidFill>
                  <a:srgbClr val="FFFFFF"/>
                </a:solidFill>
                <a:latin typeface="Calibri"/>
              </a:rPr>
              <a:t>PropPulse</a:t>
            </a:r>
          </a:p>
        </p:txBody>
      </p:sp>
      <p:sp>
        <p:nvSpPr>
          <p:cNvPr id="6" name="TextBox 5"/>
          <p:cNvSpPr txBox="1"/>
          <p:nvPr/>
        </p:nvSpPr>
        <p:spPr>
          <a:xfrm>
            <a:off x="868680" y="3035808"/>
            <a:ext cx="10515600" cy="457200"/>
          </a:xfrm>
          <a:prstGeom prst="rect">
            <a:avLst/>
          </a:prstGeom>
          <a:noFill/>
        </p:spPr>
        <p:txBody>
          <a:bodyPr wrap="square" anchor="t">
            <a:spAutoFit/>
          </a:bodyPr>
          <a:lstStyle/>
          <a:p>
            <a:pPr algn="l">
              <a:lnSpc>
                <a:spcPct val="100000"/>
              </a:lnSpc>
              <a:spcAft>
                <a:spcPts val="600"/>
              </a:spcAft>
            </a:pPr>
            <a:r>
              <a:rPr sz="1900" b="0" i="0">
                <a:solidFill>
                  <a:srgbClr val="C9D6EC"/>
                </a:solidFill>
                <a:latin typeface="Calibri"/>
              </a:rPr>
              <a:t>An end-to-end machine learning platform for residential property valuation in Ames, Iowa</a:t>
            </a:r>
          </a:p>
        </p:txBody>
      </p:sp>
      <p:sp>
        <p:nvSpPr>
          <p:cNvPr id="7" name="TextBox 6"/>
          <p:cNvSpPr txBox="1"/>
          <p:nvPr/>
        </p:nvSpPr>
        <p:spPr>
          <a:xfrm>
            <a:off x="868680" y="3913632"/>
            <a:ext cx="7315200" cy="1463040"/>
          </a:xfrm>
          <a:prstGeom prst="rect">
            <a:avLst/>
          </a:prstGeom>
          <a:noFill/>
        </p:spPr>
        <p:txBody>
          <a:bodyPr wrap="square" anchor="t">
            <a:spAutoFit/>
          </a:bodyPr>
          <a:lstStyle/>
          <a:p>
            <a:pPr algn="l">
              <a:lnSpc>
                <a:spcPct val="100000"/>
              </a:lnSpc>
              <a:spcAft>
                <a:spcPts val="800"/>
              </a:spcAft>
            </a:pPr>
            <a:r>
              <a:rPr sz="1700" b="1" i="0">
                <a:solidFill>
                  <a:srgbClr val="FFFFFF"/>
                </a:solidFill>
                <a:latin typeface="Calibri"/>
              </a:rPr>
              <a:t>Rushmanth Nalluri</a:t>
            </a:r>
            <a:r>
              <a:rPr sz="1400" b="0" i="0">
                <a:solidFill>
                  <a:srgbClr val="C9D6EC"/>
                </a:solidFill>
                <a:latin typeface="Calibri"/>
              </a:rPr>
              <a:t>    2500030215</a:t>
            </a:r>
          </a:p>
          <a:p>
            <a:pPr algn="l">
              <a:lnSpc>
                <a:spcPct val="100000"/>
              </a:lnSpc>
              <a:spcAft>
                <a:spcPts val="800"/>
              </a:spcAft>
            </a:pPr>
            <a:r>
              <a:rPr sz="1700" b="1" i="0">
                <a:solidFill>
                  <a:srgbClr val="FFFFFF"/>
                </a:solidFill>
                <a:latin typeface="Calibri"/>
              </a:rPr>
              <a:t>Sk Mastan Saheb</a:t>
            </a:r>
            <a:r>
              <a:rPr sz="1400" b="0" i="0">
                <a:solidFill>
                  <a:srgbClr val="C9D6EC"/>
                </a:solidFill>
                <a:latin typeface="Calibri"/>
              </a:rPr>
              <a:t>    2500030370</a:t>
            </a:r>
          </a:p>
          <a:p>
            <a:pPr algn="l">
              <a:lnSpc>
                <a:spcPct val="100000"/>
              </a:lnSpc>
              <a:spcAft>
                <a:spcPts val="800"/>
              </a:spcAft>
            </a:pPr>
            <a:r>
              <a:rPr sz="1700" b="1" i="0">
                <a:solidFill>
                  <a:srgbClr val="FFFFFF"/>
                </a:solidFill>
                <a:latin typeface="Calibri"/>
              </a:rPr>
              <a:t>Rayala Deepak</a:t>
            </a:r>
            <a:r>
              <a:rPr sz="1400" b="0" i="0">
                <a:solidFill>
                  <a:srgbClr val="C9D6EC"/>
                </a:solidFill>
                <a:latin typeface="Calibri"/>
              </a:rPr>
              <a:t>    2500030717</a:t>
            </a:r>
          </a:p>
        </p:txBody>
      </p:sp>
      <p:sp>
        <p:nvSpPr>
          <p:cNvPr id="8" name="TextBox 7"/>
          <p:cNvSpPr txBox="1"/>
          <p:nvPr/>
        </p:nvSpPr>
        <p:spPr>
          <a:xfrm>
            <a:off x="868680" y="5742432"/>
            <a:ext cx="10515600" cy="777240"/>
          </a:xfrm>
          <a:prstGeom prst="rect">
            <a:avLst/>
          </a:prstGeom>
          <a:noFill/>
        </p:spPr>
        <p:txBody>
          <a:bodyPr wrap="square" anchor="t">
            <a:spAutoFit/>
          </a:bodyPr>
          <a:lstStyle/>
          <a:p>
            <a:pPr algn="l">
              <a:lnSpc>
                <a:spcPct val="100000"/>
              </a:lnSpc>
              <a:spcAft>
                <a:spcPts val="300"/>
              </a:spcAft>
            </a:pPr>
            <a:r>
              <a:rPr sz="1300" b="0" i="0">
                <a:solidFill>
                  <a:srgbClr val="C9D6EC"/>
                </a:solidFill>
                <a:latin typeface="Calibri"/>
              </a:rPr>
              <a:t>Under the guidance of </a:t>
            </a:r>
            <a:r>
              <a:rPr sz="1300" b="1" i="0">
                <a:solidFill>
                  <a:srgbClr val="FFFFFF"/>
                </a:solidFill>
                <a:latin typeface="Calibri"/>
              </a:rPr>
              <a:t>Guide Name, Designation</a:t>
            </a:r>
          </a:p>
          <a:p>
            <a:pPr algn="l">
              <a:lnSpc>
                <a:spcPct val="100000"/>
              </a:lnSpc>
              <a:spcAft>
                <a:spcPts val="300"/>
              </a:spcAft>
            </a:pPr>
            <a:r>
              <a:rPr sz="1200" b="0" i="0">
                <a:solidFill>
                  <a:srgbClr val="C9D6EC"/>
                </a:solidFill>
                <a:latin typeface="Calibri"/>
              </a:rPr>
              <a:t>Department of Computer Science &amp; Engineering</a:t>
            </a:r>
          </a:p>
        </p:txBody>
      </p:sp>
      <p:sp>
        <p:nvSpPr>
          <p:cNvPr id="9" name="TextBox 8"/>
          <p:cNvSpPr txBox="1"/>
          <p:nvPr/>
        </p:nvSpPr>
        <p:spPr>
          <a:xfrm>
            <a:off x="8229600" y="5806440"/>
            <a:ext cx="3108960" cy="457200"/>
          </a:xfrm>
          <a:prstGeom prst="rect">
            <a:avLst/>
          </a:prstGeom>
          <a:noFill/>
        </p:spPr>
        <p:txBody>
          <a:bodyPr wrap="square" anchor="t">
            <a:spAutoFit/>
          </a:bodyPr>
          <a:lstStyle/>
          <a:p>
            <a:pPr algn="r">
              <a:lnSpc>
                <a:spcPct val="100000"/>
              </a:lnSpc>
              <a:spcAft>
                <a:spcPts val="600"/>
              </a:spcAft>
            </a:pPr>
            <a:r>
              <a:rPr sz="1250" b="0" i="0">
                <a:solidFill>
                  <a:srgbClr val="C9D6EC"/>
                </a:solidFill>
                <a:latin typeface="Calibri"/>
              </a:rPr>
              <a:t>github.com/rushmanthnalluri/prop-pulse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Problem Statement</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2</a:t>
            </a:r>
          </a:p>
        </p:txBody>
      </p:sp>
      <p:sp>
        <p:nvSpPr>
          <p:cNvPr id="7" name="TextBox 6"/>
          <p:cNvSpPr txBox="1"/>
          <p:nvPr/>
        </p:nvSpPr>
        <p:spPr>
          <a:xfrm>
            <a:off x="685800" y="1417320"/>
            <a:ext cx="10817352" cy="822960"/>
          </a:xfrm>
          <a:prstGeom prst="rect">
            <a:avLst/>
          </a:prstGeom>
          <a:noFill/>
        </p:spPr>
        <p:txBody>
          <a:bodyPr wrap="square" anchor="t">
            <a:spAutoFit/>
          </a:bodyPr>
          <a:lstStyle/>
          <a:p>
            <a:pPr algn="l">
              <a:lnSpc>
                <a:spcPct val="110000"/>
              </a:lnSpc>
              <a:spcAft>
                <a:spcPts val="600"/>
              </a:spcAft>
            </a:pPr>
            <a:r>
              <a:rPr sz="2000" b="0" i="0">
                <a:solidFill>
                  <a:srgbClr val="212121"/>
                </a:solidFill>
                <a:latin typeface="Calibri"/>
              </a:rPr>
              <a:t>Residential property pricing is opaque. Buyers, sellers and agents get a number, but rarely an explanation of </a:t>
            </a:r>
            <a:r>
              <a:rPr sz="2000" b="0" i="1">
                <a:solidFill>
                  <a:srgbClr val="212121"/>
                </a:solidFill>
                <a:latin typeface="Calibri"/>
              </a:rPr>
              <a:t>why</a:t>
            </a:r>
            <a:r>
              <a:rPr sz="2000" b="0" i="0">
                <a:solidFill>
                  <a:srgbClr val="212121"/>
                </a:solidFill>
                <a:latin typeface="Calibri"/>
              </a:rPr>
              <a:t> it is that number.</a:t>
            </a:r>
          </a:p>
        </p:txBody>
      </p:sp>
      <p:sp>
        <p:nvSpPr>
          <p:cNvPr id="8" name="Rectangle 7"/>
          <p:cNvSpPr/>
          <p:nvPr/>
        </p:nvSpPr>
        <p:spPr>
          <a:xfrm>
            <a:off x="685800" y="2514600"/>
            <a:ext cx="3419856" cy="2286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514600"/>
            <a:ext cx="3419856" cy="330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43200"/>
            <a:ext cx="2962656" cy="685800"/>
          </a:xfrm>
          <a:prstGeom prst="rect">
            <a:avLst/>
          </a:prstGeom>
          <a:noFill/>
        </p:spPr>
        <p:txBody>
          <a:bodyPr wrap="square" anchor="t">
            <a:spAutoFit/>
          </a:bodyPr>
          <a:lstStyle/>
          <a:p>
            <a:pPr algn="l">
              <a:lnSpc>
                <a:spcPct val="100000"/>
              </a:lnSpc>
              <a:spcAft>
                <a:spcPts val="600"/>
              </a:spcAft>
            </a:pPr>
            <a:r>
              <a:rPr sz="1800" b="1" i="0">
                <a:solidFill>
                  <a:srgbClr val="1F3864"/>
                </a:solidFill>
                <a:latin typeface="Calibri"/>
              </a:rPr>
              <a:t>How much is it worth?</a:t>
            </a:r>
          </a:p>
        </p:txBody>
      </p:sp>
      <p:sp>
        <p:nvSpPr>
          <p:cNvPr id="11" name="TextBox 10"/>
          <p:cNvSpPr txBox="1"/>
          <p:nvPr/>
        </p:nvSpPr>
        <p:spPr>
          <a:xfrm>
            <a:off x="914400" y="3429000"/>
            <a:ext cx="2962656" cy="1280160"/>
          </a:xfrm>
          <a:prstGeom prst="rect">
            <a:avLst/>
          </a:prstGeom>
          <a:noFill/>
        </p:spPr>
        <p:txBody>
          <a:bodyPr wrap="square" anchor="t">
            <a:spAutoFit/>
          </a:bodyPr>
          <a:lstStyle/>
          <a:p>
            <a:pPr algn="l">
              <a:lnSpc>
                <a:spcPct val="112000"/>
              </a:lnSpc>
              <a:spcAft>
                <a:spcPts val="600"/>
              </a:spcAft>
            </a:pPr>
            <a:r>
              <a:rPr sz="1450" b="0" i="0">
                <a:solidFill>
                  <a:srgbClr val="212121"/>
                </a:solidFill>
                <a:latin typeface="Calibri"/>
              </a:rPr>
              <a:t>Sale price in dollars, with an 80% prediction interval (regression on log price).</a:t>
            </a:r>
          </a:p>
        </p:txBody>
      </p:sp>
      <p:sp>
        <p:nvSpPr>
          <p:cNvPr id="12" name="Rectangle 11"/>
          <p:cNvSpPr/>
          <p:nvPr/>
        </p:nvSpPr>
        <p:spPr>
          <a:xfrm>
            <a:off x="4379976" y="2514600"/>
            <a:ext cx="3419856" cy="2286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9976" y="2514600"/>
            <a:ext cx="3419856" cy="330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8576" y="2743200"/>
            <a:ext cx="2962656" cy="685800"/>
          </a:xfrm>
          <a:prstGeom prst="rect">
            <a:avLst/>
          </a:prstGeom>
          <a:noFill/>
        </p:spPr>
        <p:txBody>
          <a:bodyPr wrap="square" anchor="t">
            <a:spAutoFit/>
          </a:bodyPr>
          <a:lstStyle/>
          <a:p>
            <a:pPr algn="l">
              <a:lnSpc>
                <a:spcPct val="100000"/>
              </a:lnSpc>
              <a:spcAft>
                <a:spcPts val="600"/>
              </a:spcAft>
            </a:pPr>
            <a:r>
              <a:rPr sz="1800" b="1" i="0">
                <a:solidFill>
                  <a:srgbClr val="1F3864"/>
                </a:solidFill>
                <a:latin typeface="Calibri"/>
              </a:rPr>
              <a:t>How fast will it sell?</a:t>
            </a:r>
          </a:p>
        </p:txBody>
      </p:sp>
      <p:sp>
        <p:nvSpPr>
          <p:cNvPr id="15" name="TextBox 14"/>
          <p:cNvSpPr txBox="1"/>
          <p:nvPr/>
        </p:nvSpPr>
        <p:spPr>
          <a:xfrm>
            <a:off x="4608576" y="3429000"/>
            <a:ext cx="2962656" cy="1280160"/>
          </a:xfrm>
          <a:prstGeom prst="rect">
            <a:avLst/>
          </a:prstGeom>
          <a:noFill/>
        </p:spPr>
        <p:txBody>
          <a:bodyPr wrap="square" anchor="t">
            <a:spAutoFit/>
          </a:bodyPr>
          <a:lstStyle/>
          <a:p>
            <a:pPr algn="l">
              <a:lnSpc>
                <a:spcPct val="112000"/>
              </a:lnSpc>
              <a:spcAft>
                <a:spcPts val="600"/>
              </a:spcAft>
            </a:pPr>
            <a:r>
              <a:rPr sz="1450" b="0" i="0">
                <a:solidFill>
                  <a:srgbClr val="212121"/>
                </a:solidFill>
                <a:latin typeface="Calibri"/>
              </a:rPr>
              <a:t>Calibrated probability of selling within 30 days (classification).</a:t>
            </a:r>
          </a:p>
        </p:txBody>
      </p:sp>
      <p:sp>
        <p:nvSpPr>
          <p:cNvPr id="16" name="Rectangle 15"/>
          <p:cNvSpPr/>
          <p:nvPr/>
        </p:nvSpPr>
        <p:spPr>
          <a:xfrm>
            <a:off x="8074152" y="2514600"/>
            <a:ext cx="3419856" cy="2286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4152" y="2514600"/>
            <a:ext cx="3419856" cy="330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743200"/>
            <a:ext cx="2962656" cy="685800"/>
          </a:xfrm>
          <a:prstGeom prst="rect">
            <a:avLst/>
          </a:prstGeom>
          <a:noFill/>
        </p:spPr>
        <p:txBody>
          <a:bodyPr wrap="square" anchor="t">
            <a:spAutoFit/>
          </a:bodyPr>
          <a:lstStyle/>
          <a:p>
            <a:pPr algn="l">
              <a:lnSpc>
                <a:spcPct val="100000"/>
              </a:lnSpc>
              <a:spcAft>
                <a:spcPts val="600"/>
              </a:spcAft>
            </a:pPr>
            <a:r>
              <a:rPr sz="1800" b="1" i="0">
                <a:solidFill>
                  <a:srgbClr val="1F3864"/>
                </a:solidFill>
                <a:latin typeface="Calibri"/>
              </a:rPr>
              <a:t>Which market is it in?</a:t>
            </a:r>
          </a:p>
        </p:txBody>
      </p:sp>
      <p:sp>
        <p:nvSpPr>
          <p:cNvPr id="19" name="TextBox 18"/>
          <p:cNvSpPr txBox="1"/>
          <p:nvPr/>
        </p:nvSpPr>
        <p:spPr>
          <a:xfrm>
            <a:off x="8302752" y="3429000"/>
            <a:ext cx="2962656" cy="1280160"/>
          </a:xfrm>
          <a:prstGeom prst="rect">
            <a:avLst/>
          </a:prstGeom>
          <a:noFill/>
        </p:spPr>
        <p:txBody>
          <a:bodyPr wrap="square" anchor="t">
            <a:spAutoFit/>
          </a:bodyPr>
          <a:lstStyle/>
          <a:p>
            <a:pPr algn="l">
              <a:lnSpc>
                <a:spcPct val="112000"/>
              </a:lnSpc>
              <a:spcAft>
                <a:spcPts val="600"/>
              </a:spcAft>
            </a:pPr>
            <a:r>
              <a:rPr sz="1450" b="0" i="0">
                <a:solidFill>
                  <a:srgbClr val="212121"/>
                </a:solidFill>
                <a:latin typeface="Calibri"/>
              </a:rPr>
              <a:t>Micro-market segment from 25 Ames neighborhoods (DBSCAN clustering).</a:t>
            </a:r>
          </a:p>
        </p:txBody>
      </p:sp>
      <p:sp>
        <p:nvSpPr>
          <p:cNvPr id="20" name="TextBox 19"/>
          <p:cNvSpPr txBox="1"/>
          <p:nvPr/>
        </p:nvSpPr>
        <p:spPr>
          <a:xfrm>
            <a:off x="685800" y="5257800"/>
            <a:ext cx="10817352" cy="822960"/>
          </a:xfrm>
          <a:prstGeom prst="rect">
            <a:avLst/>
          </a:prstGeom>
          <a:noFill/>
        </p:spPr>
        <p:txBody>
          <a:bodyPr wrap="square" anchor="t">
            <a:spAutoFit/>
          </a:bodyPr>
          <a:lstStyle/>
          <a:p>
            <a:pPr algn="l">
              <a:lnSpc>
                <a:spcPct val="110000"/>
              </a:lnSpc>
              <a:spcAft>
                <a:spcPts val="600"/>
              </a:spcAft>
            </a:pPr>
            <a:r>
              <a:rPr sz="1700" b="1" i="0">
                <a:solidFill>
                  <a:srgbClr val="1F3864"/>
                </a:solidFill>
                <a:latin typeface="Calibri"/>
              </a:rPr>
              <a:t>The bar we set: </a:t>
            </a:r>
            <a:r>
              <a:rPr sz="1700" b="0" i="0">
                <a:solidFill>
                  <a:srgbClr val="212121"/>
                </a:solidFill>
                <a:latin typeface="Calibri"/>
              </a:rPr>
              <a:t>every estimate explained with SHAP factors and served as a real product (FastAPI backend and React dashboard), not just a notebook.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Abstract</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3</a:t>
            </a:r>
          </a:p>
        </p:txBody>
      </p:sp>
      <p:sp>
        <p:nvSpPr>
          <p:cNvPr id="7" name="TextBox 6"/>
          <p:cNvSpPr txBox="1"/>
          <p:nvPr/>
        </p:nvSpPr>
        <p:spPr>
          <a:xfrm>
            <a:off x="685800" y="1554480"/>
            <a:ext cx="10424160" cy="4480560"/>
          </a:xfrm>
          <a:prstGeom prst="rect">
            <a:avLst/>
          </a:prstGeom>
          <a:noFill/>
        </p:spPr>
        <p:txBody>
          <a:bodyPr wrap="square" anchor="t">
            <a:spAutoFit/>
          </a:bodyPr>
          <a:lstStyle/>
          <a:p>
            <a:pPr algn="l">
              <a:lnSpc>
                <a:spcPct val="118000"/>
              </a:lnSpc>
              <a:spcAft>
                <a:spcPts val="1600"/>
              </a:spcAft>
            </a:pPr>
            <a:r>
              <a:rPr sz="1800" b="0" i="0">
                <a:solidFill>
                  <a:srgbClr val="212121"/>
                </a:solidFill>
                <a:latin typeface="Calibri"/>
              </a:rPr>
              <a:t>PropPulse is an end-to-end machine learning platform for residential property valuation in Ames, Iowa (Kaggle House Prices dataset, 1,460 sales from 2006 to 2010). It predicts a home's sale price in dollars, the probability that it sells within 30 days, and its micro-market segment. Every prediction is explained with SHAP factors.</a:t>
            </a:r>
          </a:p>
          <a:p>
            <a:pPr algn="l">
              <a:lnSpc>
                <a:spcPct val="118000"/>
              </a:lnSpc>
              <a:spcAft>
                <a:spcPts val="1600"/>
              </a:spcAft>
            </a:pPr>
            <a:r>
              <a:rPr sz="1800" b="0" i="0">
                <a:solidFill>
                  <a:srgbClr val="212121"/>
                </a:solidFill>
                <a:latin typeface="Calibri"/>
              </a:rPr>
              <a:t>The methodology is leakage-safe by construction: a time-based split (train up to 2008, validation 2009, sealed test 2010), all statistics fit on train only, and one feature pipeline shared by training and serving. Models are served by a FastAPI backend and a React dashboard, tracked with MLflow, monitored for drift with PSI, and packaged with Docker.</a:t>
            </a:r>
          </a:p>
          <a:p>
            <a:pPr algn="l">
              <a:lnSpc>
                <a:spcPct val="118000"/>
              </a:lnSpc>
              <a:spcAft>
                <a:spcPts val="1600"/>
              </a:spcAft>
            </a:pPr>
            <a:r>
              <a:rPr sz="1500" b="0" i="1">
                <a:solidFill>
                  <a:srgbClr val="666666"/>
                </a:solidFill>
                <a:latin typeface="Calibri"/>
              </a:rPr>
              <a:t>This review covers the problem statement, the completed exploratory data analysis (14 figures from a reproducible notebook), and the project repository.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Objectives &amp; Dataset</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4</a:t>
            </a:r>
          </a:p>
        </p:txBody>
      </p:sp>
      <p:sp>
        <p:nvSpPr>
          <p:cNvPr id="7" name="TextBox 6"/>
          <p:cNvSpPr txBox="1"/>
          <p:nvPr/>
        </p:nvSpPr>
        <p:spPr>
          <a:xfrm>
            <a:off x="685800" y="1371600"/>
            <a:ext cx="5120640" cy="411480"/>
          </a:xfrm>
          <a:prstGeom prst="rect">
            <a:avLst/>
          </a:prstGeom>
          <a:noFill/>
        </p:spPr>
        <p:txBody>
          <a:bodyPr wrap="square" anchor="t">
            <a:spAutoFit/>
          </a:bodyPr>
          <a:lstStyle/>
          <a:p>
            <a:pPr algn="l">
              <a:lnSpc>
                <a:spcPct val="100000"/>
              </a:lnSpc>
              <a:spcAft>
                <a:spcPts val="600"/>
              </a:spcAft>
            </a:pPr>
            <a:r>
              <a:rPr sz="1700" b="1" i="0">
                <a:solidFill>
                  <a:srgbClr val="1F3864"/>
                </a:solidFill>
                <a:latin typeface="Calibri"/>
              </a:rPr>
              <a:t>Six objectives</a:t>
            </a:r>
          </a:p>
        </p:txBody>
      </p:sp>
      <p:sp>
        <p:nvSpPr>
          <p:cNvPr id="8" name="TextBox 7"/>
          <p:cNvSpPr txBox="1"/>
          <p:nvPr/>
        </p:nvSpPr>
        <p:spPr>
          <a:xfrm>
            <a:off x="685800" y="1828800"/>
            <a:ext cx="5120640" cy="4206240"/>
          </a:xfrm>
          <a:prstGeom prst="rect">
            <a:avLst/>
          </a:prstGeom>
          <a:noFill/>
        </p:spPr>
        <p:txBody>
          <a:bodyPr wrap="square">
            <a:spAutoFit/>
          </a:bodyPr>
          <a:lstStyle/>
          <a:p>
            <a:pPr>
              <a:lnSpc>
                <a:spcPct val="106000"/>
              </a:lnSpc>
              <a:spcAft>
                <a:spcPts val="900"/>
              </a:spcAft>
            </a:pPr>
            <a:r>
              <a:rPr sz="1550" b="1">
                <a:solidFill>
                  <a:srgbClr val="C9A227"/>
                </a:solidFill>
                <a:latin typeface="Calibri"/>
              </a:rPr>
              <a:t>▪  </a:t>
            </a:r>
            <a:r>
              <a:rPr sz="1550" b="1" i="0">
                <a:solidFill>
                  <a:srgbClr val="1F3864"/>
                </a:solidFill>
                <a:latin typeface="Calibri"/>
              </a:rPr>
              <a:t>O1   </a:t>
            </a:r>
            <a:r>
              <a:rPr sz="1550" b="0" i="0">
                <a:solidFill>
                  <a:srgbClr val="212121"/>
                </a:solidFill>
                <a:latin typeface="Calibri"/>
              </a:rPr>
              <a:t>Data pipeline: clean, validate, time-based split</a:t>
            </a:r>
            <a:r>
              <a:rPr sz="1300" b="1" i="0">
                <a:solidFill>
                  <a:srgbClr val="2E7D32"/>
                </a:solidFill>
                <a:latin typeface="Calibri"/>
              </a:rPr>
              <a:t>   (done)</a:t>
            </a:r>
          </a:p>
          <a:p>
            <a:pPr>
              <a:lnSpc>
                <a:spcPct val="106000"/>
              </a:lnSpc>
              <a:spcAft>
                <a:spcPts val="900"/>
              </a:spcAft>
            </a:pPr>
            <a:r>
              <a:rPr sz="1550" b="1">
                <a:solidFill>
                  <a:srgbClr val="C9A227"/>
                </a:solidFill>
                <a:latin typeface="Calibri"/>
              </a:rPr>
              <a:t>▪  </a:t>
            </a:r>
            <a:r>
              <a:rPr sz="1550" b="1" i="0">
                <a:solidFill>
                  <a:srgbClr val="1F3864"/>
                </a:solidFill>
                <a:latin typeface="Calibri"/>
              </a:rPr>
              <a:t>O2   </a:t>
            </a:r>
            <a:r>
              <a:rPr sz="1550" b="0" i="0">
                <a:solidFill>
                  <a:srgbClr val="212121"/>
                </a:solidFill>
                <a:latin typeface="Calibri"/>
              </a:rPr>
              <a:t>EDA: 14 figures, reproducible (this review)</a:t>
            </a:r>
            <a:r>
              <a:rPr sz="1300" b="1" i="0">
                <a:solidFill>
                  <a:srgbClr val="2E7D32"/>
                </a:solidFill>
                <a:latin typeface="Calibri"/>
              </a:rPr>
              <a:t>   (done)</a:t>
            </a:r>
          </a:p>
          <a:p>
            <a:pPr>
              <a:lnSpc>
                <a:spcPct val="106000"/>
              </a:lnSpc>
              <a:spcAft>
                <a:spcPts val="900"/>
              </a:spcAft>
            </a:pPr>
            <a:r>
              <a:rPr sz="1550" b="1">
                <a:solidFill>
                  <a:srgbClr val="C9A227"/>
                </a:solidFill>
                <a:latin typeface="Calibri"/>
              </a:rPr>
              <a:t>▪  </a:t>
            </a:r>
            <a:r>
              <a:rPr sz="1550" b="1" i="0">
                <a:solidFill>
                  <a:srgbClr val="1F3864"/>
                </a:solidFill>
                <a:latin typeface="Calibri"/>
              </a:rPr>
              <a:t>O3   </a:t>
            </a:r>
            <a:r>
              <a:rPr sz="1550" b="0" i="0">
                <a:solidFill>
                  <a:srgbClr val="212121"/>
                </a:solidFill>
                <a:latin typeface="Calibri"/>
              </a:rPr>
              <a:t>94-feature pipeline shared by training and serving</a:t>
            </a:r>
            <a:r>
              <a:rPr sz="1550" b="0" i="0">
                <a:solidFill>
                  <a:srgbClr val="212121"/>
                </a:solidFill>
                <a:latin typeface="Calibri"/>
              </a:rPr>
              <a:t/>
            </a:r>
          </a:p>
          <a:p>
            <a:pPr>
              <a:lnSpc>
                <a:spcPct val="106000"/>
              </a:lnSpc>
              <a:spcAft>
                <a:spcPts val="900"/>
              </a:spcAft>
            </a:pPr>
            <a:r>
              <a:rPr sz="1550" b="1">
                <a:solidFill>
                  <a:srgbClr val="C9A227"/>
                </a:solidFill>
                <a:latin typeface="Calibri"/>
              </a:rPr>
              <a:t>▪  </a:t>
            </a:r>
            <a:r>
              <a:rPr sz="1550" b="1" i="0">
                <a:solidFill>
                  <a:srgbClr val="1F3864"/>
                </a:solidFill>
                <a:latin typeface="Calibri"/>
              </a:rPr>
              <a:t>O4   </a:t>
            </a:r>
            <a:r>
              <a:rPr sz="1550" b="0" i="0">
                <a:solidFill>
                  <a:srgbClr val="212121"/>
                </a:solidFill>
                <a:latin typeface="Calibri"/>
              </a:rPr>
              <a:t>5 regression and 4 classification candidates</a:t>
            </a:r>
            <a:r>
              <a:rPr sz="1550" b="0" i="0">
                <a:solidFill>
                  <a:srgbClr val="212121"/>
                </a:solidFill>
                <a:latin typeface="Calibri"/>
              </a:rPr>
              <a:t/>
            </a:r>
          </a:p>
          <a:p>
            <a:pPr>
              <a:lnSpc>
                <a:spcPct val="106000"/>
              </a:lnSpc>
              <a:spcAft>
                <a:spcPts val="900"/>
              </a:spcAft>
            </a:pPr>
            <a:r>
              <a:rPr sz="1550" b="1">
                <a:solidFill>
                  <a:srgbClr val="C9A227"/>
                </a:solidFill>
                <a:latin typeface="Calibri"/>
              </a:rPr>
              <a:t>▪  </a:t>
            </a:r>
            <a:r>
              <a:rPr sz="1550" b="1" i="0">
                <a:solidFill>
                  <a:srgbClr val="1F3864"/>
                </a:solidFill>
                <a:latin typeface="Calibri"/>
              </a:rPr>
              <a:t>O5   </a:t>
            </a:r>
            <a:r>
              <a:rPr sz="1550" b="0" i="0">
                <a:solidFill>
                  <a:srgbClr val="212121"/>
                </a:solidFill>
                <a:latin typeface="Calibri"/>
              </a:rPr>
              <a:t>SHAP explainability, global and per-prediction</a:t>
            </a:r>
            <a:r>
              <a:rPr sz="1550" b="0" i="0">
                <a:solidFill>
                  <a:srgbClr val="212121"/>
                </a:solidFill>
                <a:latin typeface="Calibri"/>
              </a:rPr>
              <a:t/>
            </a:r>
          </a:p>
          <a:p>
            <a:pPr>
              <a:lnSpc>
                <a:spcPct val="106000"/>
              </a:lnSpc>
              <a:spcAft>
                <a:spcPts val="900"/>
              </a:spcAft>
            </a:pPr>
            <a:r>
              <a:rPr sz="1550" b="1">
                <a:solidFill>
                  <a:srgbClr val="C9A227"/>
                </a:solidFill>
                <a:latin typeface="Calibri"/>
              </a:rPr>
              <a:t>▪  </a:t>
            </a:r>
            <a:r>
              <a:rPr sz="1550" b="1" i="0">
                <a:solidFill>
                  <a:srgbClr val="1F3864"/>
                </a:solidFill>
                <a:latin typeface="Calibri"/>
              </a:rPr>
              <a:t>O6   </a:t>
            </a:r>
            <a:r>
              <a:rPr sz="1550" b="0" i="0">
                <a:solidFill>
                  <a:srgbClr val="212121"/>
                </a:solidFill>
                <a:latin typeface="Calibri"/>
              </a:rPr>
              <a:t>FastAPI, React, drift monitoring, Docker</a:t>
            </a:r>
            <a:r>
              <a:rPr sz="1550" b="0" i="0">
                <a:solidFill>
                  <a:srgbClr val="212121"/>
                </a:solidFill>
                <a:latin typeface="Calibri"/>
              </a:rPr>
              <a:t/>
            </a:r>
          </a:p>
        </p:txBody>
      </p:sp>
      <p:sp>
        <p:nvSpPr>
          <p:cNvPr id="9" name="TextBox 8"/>
          <p:cNvSpPr txBox="1"/>
          <p:nvPr/>
        </p:nvSpPr>
        <p:spPr>
          <a:xfrm>
            <a:off x="685800" y="5806440"/>
            <a:ext cx="5120640" cy="365760"/>
          </a:xfrm>
          <a:prstGeom prst="rect">
            <a:avLst/>
          </a:prstGeom>
          <a:noFill/>
        </p:spPr>
        <p:txBody>
          <a:bodyPr wrap="square" anchor="t">
            <a:spAutoFit/>
          </a:bodyPr>
          <a:lstStyle/>
          <a:p>
            <a:pPr algn="l">
              <a:lnSpc>
                <a:spcPct val="100000"/>
              </a:lnSpc>
              <a:spcAft>
                <a:spcPts val="600"/>
              </a:spcAft>
            </a:pPr>
            <a:r>
              <a:rPr sz="1200" b="0" i="0">
                <a:solidFill>
                  <a:srgbClr val="2E7D32"/>
                </a:solidFill>
                <a:latin typeface="Calibri"/>
              </a:rPr>
              <a:t>O1 and O2 are complete and in the repository today</a:t>
            </a:r>
          </a:p>
        </p:txBody>
      </p:sp>
      <p:sp>
        <p:nvSpPr>
          <p:cNvPr id="10" name="Rectangle 9"/>
          <p:cNvSpPr/>
          <p:nvPr/>
        </p:nvSpPr>
        <p:spPr>
          <a:xfrm>
            <a:off x="6263640" y="1371600"/>
            <a:ext cx="12700" cy="457200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371600"/>
            <a:ext cx="4846320" cy="411480"/>
          </a:xfrm>
          <a:prstGeom prst="rect">
            <a:avLst/>
          </a:prstGeom>
          <a:noFill/>
        </p:spPr>
        <p:txBody>
          <a:bodyPr wrap="square" anchor="t">
            <a:spAutoFit/>
          </a:bodyPr>
          <a:lstStyle/>
          <a:p>
            <a:pPr algn="l">
              <a:lnSpc>
                <a:spcPct val="100000"/>
              </a:lnSpc>
              <a:spcAft>
                <a:spcPts val="600"/>
              </a:spcAft>
            </a:pPr>
            <a:r>
              <a:rPr sz="1700" b="1" i="0">
                <a:solidFill>
                  <a:srgbClr val="1F3864"/>
                </a:solidFill>
                <a:latin typeface="Calibri"/>
              </a:rPr>
              <a:t>Dataset: Ames, Iowa housing (Kaggle, De Cock 2011)</a:t>
            </a:r>
          </a:p>
        </p:txBody>
      </p:sp>
      <p:sp>
        <p:nvSpPr>
          <p:cNvPr id="12" name="TextBox 11"/>
          <p:cNvSpPr txBox="1"/>
          <p:nvPr/>
        </p:nvSpPr>
        <p:spPr>
          <a:xfrm>
            <a:off x="6675120" y="1874519"/>
            <a:ext cx="4846320" cy="3017520"/>
          </a:xfrm>
          <a:prstGeom prst="rect">
            <a:avLst/>
          </a:prstGeom>
          <a:noFill/>
        </p:spPr>
        <p:txBody>
          <a:bodyPr wrap="square">
            <a:spAutoFit/>
          </a:bodyPr>
          <a:lstStyle/>
          <a:p>
            <a:pPr>
              <a:lnSpc>
                <a:spcPct val="106000"/>
              </a:lnSpc>
              <a:spcAft>
                <a:spcPts val="900"/>
              </a:spcAft>
            </a:pPr>
            <a:r>
              <a:rPr sz="1500" b="1">
                <a:solidFill>
                  <a:srgbClr val="C9A227"/>
                </a:solidFill>
                <a:latin typeface="Calibri"/>
              </a:rPr>
              <a:t>▪  </a:t>
            </a:r>
            <a:r>
              <a:rPr sz="1500" b="1" i="0">
                <a:solidFill>
                  <a:srgbClr val="212121"/>
                </a:solidFill>
                <a:latin typeface="Calibri"/>
              </a:rPr>
              <a:t>1,460 rows, 81 columns</a:t>
            </a:r>
            <a:r>
              <a:rPr sz="1500" b="0" i="0">
                <a:solidFill>
                  <a:srgbClr val="212121"/>
                </a:solidFill>
                <a:latin typeface="Calibri"/>
              </a:rPr>
              <a:t> of residential sales, 2006 to 2010</a:t>
            </a:r>
          </a:p>
          <a:p>
            <a:pPr>
              <a:lnSpc>
                <a:spcPct val="106000"/>
              </a:lnSpc>
              <a:spcAft>
                <a:spcPts val="900"/>
              </a:spcAft>
            </a:pPr>
            <a:r>
              <a:rPr sz="1500" b="1">
                <a:solidFill>
                  <a:srgbClr val="C9A227"/>
                </a:solidFill>
                <a:latin typeface="Calibri"/>
              </a:rPr>
              <a:t>▪  </a:t>
            </a:r>
            <a:r>
              <a:rPr sz="1500" b="1" i="0">
                <a:solidFill>
                  <a:srgbClr val="212121"/>
                </a:solidFill>
                <a:latin typeface="Calibri"/>
              </a:rPr>
              <a:t>Time-based split: </a:t>
            </a:r>
            <a:r>
              <a:rPr sz="1500" b="0" i="0">
                <a:solidFill>
                  <a:srgbClr val="212121"/>
                </a:solidFill>
                <a:latin typeface="Calibri"/>
              </a:rPr>
              <a:t>train up to 2008 (945 rows), validation 2009 (338), test 2010 (175, sealed)</a:t>
            </a:r>
          </a:p>
          <a:p>
            <a:pPr>
              <a:lnSpc>
                <a:spcPct val="106000"/>
              </a:lnSpc>
              <a:spcAft>
                <a:spcPts val="900"/>
              </a:spcAft>
            </a:pPr>
            <a:r>
              <a:rPr sz="1500" b="1">
                <a:solidFill>
                  <a:srgbClr val="C9A227"/>
                </a:solidFill>
                <a:latin typeface="Calibri"/>
              </a:rPr>
              <a:t>▪  </a:t>
            </a:r>
            <a:r>
              <a:rPr sz="1500" b="1" i="0">
                <a:solidFill>
                  <a:srgbClr val="212121"/>
                </a:solidFill>
                <a:latin typeface="Calibri"/>
              </a:rPr>
              <a:t>Cleaning: </a:t>
            </a:r>
            <a:r>
              <a:rPr sz="1500" b="0" i="0">
                <a:solidFill>
                  <a:srgbClr val="212121"/>
                </a:solidFill>
                <a:latin typeface="Calibri"/>
              </a:rPr>
              <a:t>structural gaps filled as “None”, only LotFrontage genuinely imputed, 2 partial-sale outliers removed</a:t>
            </a:r>
          </a:p>
          <a:p>
            <a:pPr>
              <a:lnSpc>
                <a:spcPct val="106000"/>
              </a:lnSpc>
              <a:spcAft>
                <a:spcPts val="900"/>
              </a:spcAft>
            </a:pPr>
            <a:r>
              <a:rPr sz="1500" b="1">
                <a:solidFill>
                  <a:srgbClr val="C9A227"/>
                </a:solidFill>
                <a:latin typeface="Calibri"/>
              </a:rPr>
              <a:t>▪  </a:t>
            </a:r>
            <a:r>
              <a:rPr sz="1500" b="1" i="0">
                <a:solidFill>
                  <a:srgbClr val="212121"/>
                </a:solidFill>
                <a:latin typeface="Calibri"/>
              </a:rPr>
              <a:t>Honest fallbacks: </a:t>
            </a:r>
            <a:r>
              <a:rPr sz="1500" b="0" i="0">
                <a:solidFill>
                  <a:srgbClr val="212121"/>
                </a:solidFill>
                <a:latin typeface="Calibri"/>
              </a:rPr>
              <a:t>approximate neighborhood centroids for coordinates (ADR-2), simulated days on market, always labelled (ADR-3)</a:t>
            </a:r>
          </a:p>
        </p:txBody>
      </p:sp>
      <p:sp>
        <p:nvSpPr>
          <p:cNvPr id="13" name="TextBox 12"/>
          <p:cNvSpPr txBox="1"/>
          <p:nvPr/>
        </p:nvSpPr>
        <p:spPr>
          <a:xfrm>
            <a:off x="6675120" y="5074920"/>
            <a:ext cx="173736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$165k</a:t>
            </a:r>
          </a:p>
        </p:txBody>
      </p:sp>
      <p:sp>
        <p:nvSpPr>
          <p:cNvPr id="14" name="TextBox 13"/>
          <p:cNvSpPr txBox="1"/>
          <p:nvPr/>
        </p:nvSpPr>
        <p:spPr>
          <a:xfrm>
            <a:off x="6675120" y="5605272"/>
            <a:ext cx="173736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median price
(train, 945 rows)</a:t>
            </a:r>
          </a:p>
        </p:txBody>
      </p:sp>
      <p:sp>
        <p:nvSpPr>
          <p:cNvPr id="15" name="TextBox 14"/>
          <p:cNvSpPr txBox="1"/>
          <p:nvPr/>
        </p:nvSpPr>
        <p:spPr>
          <a:xfrm>
            <a:off x="8503920" y="5074920"/>
            <a:ext cx="173736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3.18×</a:t>
            </a:r>
          </a:p>
        </p:txBody>
      </p:sp>
      <p:sp>
        <p:nvSpPr>
          <p:cNvPr id="16" name="TextBox 15"/>
          <p:cNvSpPr txBox="1"/>
          <p:nvPr/>
        </p:nvSpPr>
        <p:spPr>
          <a:xfrm>
            <a:off x="8503920" y="5605272"/>
            <a:ext cx="173736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price spread across
25 neighborhoods</a:t>
            </a:r>
          </a:p>
        </p:txBody>
      </p:sp>
      <p:sp>
        <p:nvSpPr>
          <p:cNvPr id="17" name="TextBox 16"/>
          <p:cNvSpPr txBox="1"/>
          <p:nvPr/>
        </p:nvSpPr>
        <p:spPr>
          <a:xfrm>
            <a:off x="10332720" y="5074920"/>
            <a:ext cx="146304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25.3%</a:t>
            </a:r>
          </a:p>
        </p:txBody>
      </p:sp>
      <p:sp>
        <p:nvSpPr>
          <p:cNvPr id="18" name="TextBox 17"/>
          <p:cNvSpPr txBox="1"/>
          <p:nvPr/>
        </p:nvSpPr>
        <p:spPr>
          <a:xfrm>
            <a:off x="10332720" y="5605272"/>
            <a:ext cx="146304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fast-sale rate
(simulated target)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EDA: The Target Is Right-Skewed</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5</a:t>
            </a:r>
          </a:p>
        </p:txBody>
      </p:sp>
      <p:pic>
        <p:nvPicPr>
          <p:cNvPr id="7" name="Picture 6" descr="01_saleprice_distribution.png"/>
          <p:cNvPicPr>
            <a:picLocks noChangeAspect="1"/>
          </p:cNvPicPr>
          <p:nvPr/>
        </p:nvPicPr>
        <p:blipFill>
          <a:blip r:embed="rId2"/>
          <a:stretch>
            <a:fillRect/>
          </a:stretch>
        </p:blipFill>
        <p:spPr>
          <a:xfrm>
            <a:off x="502920" y="2446689"/>
            <a:ext cx="6858000" cy="2696142"/>
          </a:xfrm>
          <a:prstGeom prst="rect">
            <a:avLst/>
          </a:prstGeom>
        </p:spPr>
      </p:pic>
      <p:sp>
        <p:nvSpPr>
          <p:cNvPr id="8" name="TextBox 7"/>
          <p:cNvSpPr txBox="1"/>
          <p:nvPr/>
        </p:nvSpPr>
        <p:spPr>
          <a:xfrm>
            <a:off x="7726679" y="1600200"/>
            <a:ext cx="3977639" cy="3108960"/>
          </a:xfrm>
          <a:prstGeom prst="rect">
            <a:avLst/>
          </a:prstGeom>
          <a:noFill/>
        </p:spPr>
        <p:txBody>
          <a:bodyPr wrap="square">
            <a:spAutoFit/>
          </a:bodyPr>
          <a:lstStyle/>
          <a:p>
            <a:pPr>
              <a:lnSpc>
                <a:spcPct val="106000"/>
              </a:lnSpc>
              <a:spcAft>
                <a:spcPts val="1200"/>
              </a:spcAft>
            </a:pPr>
            <a:r>
              <a:rPr sz="1550" b="1">
                <a:solidFill>
                  <a:srgbClr val="C9A227"/>
                </a:solidFill>
                <a:latin typeface="Calibri"/>
              </a:rPr>
              <a:t>▪  </a:t>
            </a:r>
            <a:r>
              <a:rPr sz="1550" b="0" i="0">
                <a:solidFill>
                  <a:srgbClr val="212121"/>
                </a:solidFill>
                <a:latin typeface="Calibri"/>
              </a:rPr>
              <a:t>Skewness drops from </a:t>
            </a:r>
            <a:r>
              <a:rPr sz="1550" b="1" i="0">
                <a:solidFill>
                  <a:srgbClr val="1F3864"/>
                </a:solidFill>
                <a:latin typeface="Calibri"/>
              </a:rPr>
              <a:t>1.967 to 0.175</a:t>
            </a:r>
            <a:r>
              <a:rPr sz="1550" b="0" i="0">
                <a:solidFill>
                  <a:srgbClr val="212121"/>
                </a:solidFill>
                <a:latin typeface="Calibri"/>
              </a:rPr>
              <a:t> after a log transform, nearly symmetric</a:t>
            </a:r>
          </a:p>
          <a:p>
            <a:pPr>
              <a:lnSpc>
                <a:spcPct val="106000"/>
              </a:lnSpc>
              <a:spcAft>
                <a:spcPts val="1200"/>
              </a:spcAft>
            </a:pPr>
            <a:r>
              <a:rPr sz="1550" b="1">
                <a:solidFill>
                  <a:srgbClr val="C9A227"/>
                </a:solidFill>
                <a:latin typeface="Calibri"/>
              </a:rPr>
              <a:t>▪  </a:t>
            </a:r>
            <a:r>
              <a:rPr sz="1550" b="0" i="0">
                <a:solidFill>
                  <a:srgbClr val="212121"/>
                </a:solidFill>
                <a:latin typeface="Calibri"/>
              </a:rPr>
              <a:t>Mean sits about 10% above the median, pulled up by a premium tail reaching $755k</a:t>
            </a:r>
          </a:p>
          <a:p>
            <a:pPr>
              <a:lnSpc>
                <a:spcPct val="106000"/>
              </a:lnSpc>
              <a:spcAft>
                <a:spcPts val="1200"/>
              </a:spcAft>
            </a:pPr>
            <a:r>
              <a:rPr sz="1550" b="1">
                <a:solidFill>
                  <a:srgbClr val="C9A227"/>
                </a:solidFill>
                <a:latin typeface="Calibri"/>
              </a:rPr>
              <a:t>▪  </a:t>
            </a:r>
            <a:r>
              <a:rPr sz="1550" b="0" i="0">
                <a:solidFill>
                  <a:srgbClr val="212121"/>
                </a:solidFill>
                <a:latin typeface="Calibri"/>
              </a:rPr>
              <a:t>Errors scale with price, so a multiplicative model fits better</a:t>
            </a:r>
          </a:p>
          <a:p>
            <a:pPr>
              <a:lnSpc>
                <a:spcPct val="106000"/>
              </a:lnSpc>
              <a:spcAft>
                <a:spcPts val="1200"/>
              </a:spcAft>
            </a:pPr>
            <a:r>
              <a:rPr sz="1550" b="1">
                <a:solidFill>
                  <a:srgbClr val="C9A227"/>
                </a:solidFill>
                <a:latin typeface="Calibri"/>
              </a:rPr>
              <a:t>▪  </a:t>
            </a:r>
            <a:r>
              <a:rPr sz="1550" b="0" i="0">
                <a:solidFill>
                  <a:srgbClr val="212121"/>
                </a:solidFill>
                <a:latin typeface="Calibri"/>
              </a:rPr>
              <a:t>Price per sq ft is tight (skew 0.43): most of the skew is a </a:t>
            </a:r>
            <a:r>
              <a:rPr sz="1550" b="1" i="0">
                <a:solidFill>
                  <a:srgbClr val="212121"/>
                </a:solidFill>
                <a:latin typeface="Calibri"/>
              </a:rPr>
              <a:t>size effect</a:t>
            </a:r>
            <a:r>
              <a:rPr sz="1550" b="0" i="0">
                <a:solidFill>
                  <a:srgbClr val="212121"/>
                </a:solidFill>
                <a:latin typeface="Calibri"/>
              </a:rPr>
              <a:t>, not a price-level effect</a:t>
            </a:r>
          </a:p>
        </p:txBody>
      </p:sp>
      <p:sp>
        <p:nvSpPr>
          <p:cNvPr id="9" name="TextBox 8"/>
          <p:cNvSpPr txBox="1"/>
          <p:nvPr/>
        </p:nvSpPr>
        <p:spPr>
          <a:xfrm>
            <a:off x="7726679" y="4892040"/>
            <a:ext cx="3977639" cy="1188720"/>
          </a:xfrm>
          <a:prstGeom prst="rect">
            <a:avLst/>
          </a:prstGeom>
          <a:noFill/>
        </p:spPr>
        <p:txBody>
          <a:bodyPr wrap="square" anchor="t">
            <a:spAutoFit/>
          </a:bodyPr>
          <a:lstStyle/>
          <a:p>
            <a:pPr algn="l">
              <a:lnSpc>
                <a:spcPct val="112000"/>
              </a:lnSpc>
              <a:spcAft>
                <a:spcPts val="600"/>
              </a:spcAft>
            </a:pPr>
            <a:r>
              <a:rPr sz="1550" b="1" i="0">
                <a:solidFill>
                  <a:srgbClr val="1F3864"/>
                </a:solidFill>
                <a:latin typeface="Calibri"/>
              </a:rPr>
              <a:t>Decision (ADR-10): </a:t>
            </a:r>
            <a:r>
              <a:rPr sz="1550" b="0" i="0">
                <a:solidFill>
                  <a:srgbClr val="212121"/>
                </a:solidFill>
                <a:latin typeface="Calibri"/>
              </a:rPr>
              <a:t>train on log price, use RMSLE as the primary metric, and report results back in dollars.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EDA: What Drives Price</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6</a:t>
            </a:r>
          </a:p>
        </p:txBody>
      </p:sp>
      <p:pic>
        <p:nvPicPr>
          <p:cNvPr id="7" name="Picture 6" descr="11_correlation_heatmap.png"/>
          <p:cNvPicPr>
            <a:picLocks noChangeAspect="1"/>
          </p:cNvPicPr>
          <p:nvPr/>
        </p:nvPicPr>
        <p:blipFill>
          <a:blip r:embed="rId2"/>
          <a:stretch>
            <a:fillRect/>
          </a:stretch>
        </p:blipFill>
        <p:spPr>
          <a:xfrm>
            <a:off x="775259" y="1325880"/>
            <a:ext cx="5673242" cy="4937760"/>
          </a:xfrm>
          <a:prstGeom prst="rect">
            <a:avLst/>
          </a:prstGeom>
        </p:spPr>
      </p:pic>
      <p:sp>
        <p:nvSpPr>
          <p:cNvPr id="8" name="TextBox 7"/>
          <p:cNvSpPr txBox="1"/>
          <p:nvPr/>
        </p:nvSpPr>
        <p:spPr>
          <a:xfrm>
            <a:off x="7223760" y="1554480"/>
            <a:ext cx="160020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0.79</a:t>
            </a:r>
          </a:p>
        </p:txBody>
      </p:sp>
      <p:sp>
        <p:nvSpPr>
          <p:cNvPr id="9" name="TextBox 8"/>
          <p:cNvSpPr txBox="1"/>
          <p:nvPr/>
        </p:nvSpPr>
        <p:spPr>
          <a:xfrm>
            <a:off x="7223760" y="2084832"/>
            <a:ext cx="160020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OverallQual,
strongest correlate</a:t>
            </a:r>
          </a:p>
        </p:txBody>
      </p:sp>
      <p:sp>
        <p:nvSpPr>
          <p:cNvPr id="10" name="TextBox 9"/>
          <p:cNvSpPr txBox="1"/>
          <p:nvPr/>
        </p:nvSpPr>
        <p:spPr>
          <a:xfrm>
            <a:off x="9006840" y="1554480"/>
            <a:ext cx="160020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0.75</a:t>
            </a:r>
          </a:p>
        </p:txBody>
      </p:sp>
      <p:sp>
        <p:nvSpPr>
          <p:cNvPr id="11" name="TextBox 10"/>
          <p:cNvSpPr txBox="1"/>
          <p:nvPr/>
        </p:nvSpPr>
        <p:spPr>
          <a:xfrm>
            <a:off x="9006840" y="2084832"/>
            <a:ext cx="160020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GrLivArea,
strongest size feature</a:t>
            </a:r>
          </a:p>
        </p:txBody>
      </p:sp>
      <p:sp>
        <p:nvSpPr>
          <p:cNvPr id="12" name="TextBox 11"/>
          <p:cNvSpPr txBox="1"/>
          <p:nvPr/>
        </p:nvSpPr>
        <p:spPr>
          <a:xfrm>
            <a:off x="10789920" y="1554480"/>
            <a:ext cx="128016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0.61</a:t>
            </a:r>
          </a:p>
        </p:txBody>
      </p:sp>
      <p:sp>
        <p:nvSpPr>
          <p:cNvPr id="13" name="TextBox 12"/>
          <p:cNvSpPr txBox="1"/>
          <p:nvPr/>
        </p:nvSpPr>
        <p:spPr>
          <a:xfrm>
            <a:off x="10789920" y="2084832"/>
            <a:ext cx="128016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amenity count
(engineered)</a:t>
            </a:r>
          </a:p>
        </p:txBody>
      </p:sp>
      <p:sp>
        <p:nvSpPr>
          <p:cNvPr id="14" name="TextBox 13"/>
          <p:cNvSpPr txBox="1"/>
          <p:nvPr/>
        </p:nvSpPr>
        <p:spPr>
          <a:xfrm>
            <a:off x="7223760" y="3063240"/>
            <a:ext cx="4480560" cy="3108960"/>
          </a:xfrm>
          <a:prstGeom prst="rect">
            <a:avLst/>
          </a:prstGeom>
          <a:noFill/>
        </p:spPr>
        <p:txBody>
          <a:bodyPr wrap="square">
            <a:spAutoFit/>
          </a:bodyPr>
          <a:lstStyle/>
          <a:p>
            <a:pPr>
              <a:lnSpc>
                <a:spcPct val="106000"/>
              </a:lnSpc>
              <a:spcAft>
                <a:spcPts val="1000"/>
              </a:spcAft>
            </a:pPr>
            <a:r>
              <a:rPr sz="1500" b="1">
                <a:solidFill>
                  <a:srgbClr val="C9A227"/>
                </a:solidFill>
                <a:latin typeface="Calibri"/>
              </a:rPr>
              <a:t>▪  </a:t>
            </a:r>
            <a:r>
              <a:rPr sz="1500" b="0" i="0">
                <a:solidFill>
                  <a:srgbClr val="212121"/>
                </a:solidFill>
                <a:latin typeface="Calibri"/>
              </a:rPr>
              <a:t>Quality ladder is exponential: median price climbs from </a:t>
            </a:r>
            <a:r>
              <a:rPr sz="1500" b="1" i="0">
                <a:solidFill>
                  <a:srgbClr val="212121"/>
                </a:solidFill>
                <a:latin typeface="Calibri"/>
              </a:rPr>
              <a:t>$109k at grade 4 to $466k at grade 10</a:t>
            </a:r>
          </a:p>
          <a:p>
            <a:pPr>
              <a:lnSpc>
                <a:spcPct val="106000"/>
              </a:lnSpc>
              <a:spcAft>
                <a:spcPts val="1000"/>
              </a:spcAft>
            </a:pPr>
            <a:r>
              <a:rPr sz="1500" b="1">
                <a:solidFill>
                  <a:srgbClr val="C9A227"/>
                </a:solidFill>
                <a:latin typeface="Calibri"/>
              </a:rPr>
              <a:t>▪  </a:t>
            </a:r>
            <a:r>
              <a:rPr sz="1500" b="0" i="0">
                <a:solidFill>
                  <a:srgbClr val="212121"/>
                </a:solidFill>
                <a:latin typeface="Calibri"/>
              </a:rPr>
              <a:t>Size block follows: TotalBsmtSF 0.64, total bathrooms 0.64, GarageCars 0.63</a:t>
            </a:r>
          </a:p>
          <a:p>
            <a:pPr>
              <a:lnSpc>
                <a:spcPct val="106000"/>
              </a:lnSpc>
              <a:spcAft>
                <a:spcPts val="1000"/>
              </a:spcAft>
            </a:pPr>
            <a:r>
              <a:rPr sz="1500" b="1">
                <a:solidFill>
                  <a:srgbClr val="C9A227"/>
                </a:solidFill>
                <a:latin typeface="Calibri"/>
              </a:rPr>
              <a:t>▪  </a:t>
            </a:r>
            <a:r>
              <a:rPr sz="1500" b="0" i="0">
                <a:solidFill>
                  <a:srgbClr val="212121"/>
                </a:solidFill>
                <a:latin typeface="Calibri"/>
              </a:rPr>
              <a:t>Age correlates at -0.49 but is non-monotone; old character homes command premiums</a:t>
            </a:r>
          </a:p>
          <a:p>
            <a:pPr>
              <a:lnSpc>
                <a:spcPct val="106000"/>
              </a:lnSpc>
              <a:spcAft>
                <a:spcPts val="1000"/>
              </a:spcAft>
            </a:pPr>
            <a:r>
              <a:rPr sz="1500" b="1">
                <a:solidFill>
                  <a:srgbClr val="C9A227"/>
                </a:solidFill>
                <a:latin typeface="Calibri"/>
              </a:rPr>
              <a:t>▪  </a:t>
            </a:r>
            <a:r>
              <a:rPr sz="1500" b="1" i="0">
                <a:solidFill>
                  <a:srgbClr val="212121"/>
                </a:solidFill>
                <a:latin typeface="Calibri"/>
              </a:rPr>
              <a:t>Heavy multicollinearity </a:t>
            </a:r>
            <a:r>
              <a:rPr sz="1500" b="0" i="0">
                <a:solidFill>
                  <a:srgbClr val="212121"/>
                </a:solidFill>
                <a:latin typeface="Calibri"/>
              </a:rPr>
              <a:t>(GarageCars and GarageArea correlate at 0.89), so tree models or regularized linear, and read importance in groups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EDA: Location Value Lives in Neighborhoods</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7</a:t>
            </a:r>
          </a:p>
        </p:txBody>
      </p:sp>
      <p:pic>
        <p:nvPicPr>
          <p:cNvPr id="7" name="Picture 6" descr="09_neighborhood_prices.png"/>
          <p:cNvPicPr>
            <a:picLocks noChangeAspect="1"/>
          </p:cNvPicPr>
          <p:nvPr/>
        </p:nvPicPr>
        <p:blipFill>
          <a:blip r:embed="rId2"/>
          <a:stretch>
            <a:fillRect/>
          </a:stretch>
        </p:blipFill>
        <p:spPr>
          <a:xfrm>
            <a:off x="858129" y="1325880"/>
            <a:ext cx="5507501" cy="4937760"/>
          </a:xfrm>
          <a:prstGeom prst="rect">
            <a:avLst/>
          </a:prstGeom>
        </p:spPr>
      </p:pic>
      <p:pic>
        <p:nvPicPr>
          <p:cNvPr id="8" name="Picture 7" descr="08_geo_scatter.png"/>
          <p:cNvPicPr>
            <a:picLocks noChangeAspect="1"/>
          </p:cNvPicPr>
          <p:nvPr/>
        </p:nvPicPr>
        <p:blipFill>
          <a:blip r:embed="rId3"/>
          <a:stretch>
            <a:fillRect/>
          </a:stretch>
        </p:blipFill>
        <p:spPr>
          <a:xfrm>
            <a:off x="7509452" y="1325880"/>
            <a:ext cx="3634856" cy="3154680"/>
          </a:xfrm>
          <a:prstGeom prst="rect">
            <a:avLst/>
          </a:prstGeom>
        </p:spPr>
      </p:pic>
      <p:sp>
        <p:nvSpPr>
          <p:cNvPr id="9" name="TextBox 8"/>
          <p:cNvSpPr txBox="1"/>
          <p:nvPr/>
        </p:nvSpPr>
        <p:spPr>
          <a:xfrm>
            <a:off x="7086600" y="4663440"/>
            <a:ext cx="4572000" cy="1645920"/>
          </a:xfrm>
          <a:prstGeom prst="rect">
            <a:avLst/>
          </a:prstGeom>
          <a:noFill/>
        </p:spPr>
        <p:txBody>
          <a:bodyPr wrap="square">
            <a:spAutoFit/>
          </a:bodyPr>
          <a:lstStyle/>
          <a:p>
            <a:pPr>
              <a:lnSpc>
                <a:spcPct val="106000"/>
              </a:lnSpc>
              <a:spcAft>
                <a:spcPts val="800"/>
              </a:spcAft>
            </a:pPr>
            <a:r>
              <a:rPr sz="1450" b="1">
                <a:solidFill>
                  <a:srgbClr val="C9A227"/>
                </a:solidFill>
                <a:latin typeface="Calibri"/>
              </a:rPr>
              <a:t>▪  </a:t>
            </a:r>
            <a:r>
              <a:rPr sz="1450" b="0" i="0">
                <a:solidFill>
                  <a:srgbClr val="212121"/>
                </a:solidFill>
                <a:latin typeface="Calibri"/>
              </a:rPr>
              <a:t>Median prices span </a:t>
            </a:r>
            <a:r>
              <a:rPr sz="1450" b="1" i="0">
                <a:solidFill>
                  <a:srgbClr val="1F3864"/>
                </a:solidFill>
                <a:latin typeface="Calibri"/>
              </a:rPr>
              <a:t>3.18×</a:t>
            </a:r>
            <a:r>
              <a:rPr sz="1450" b="0" i="0">
                <a:solidFill>
                  <a:srgbClr val="212121"/>
                </a:solidFill>
                <a:latin typeface="Calibri"/>
              </a:rPr>
              <a:t>, from BrDale at $100k to NridgHt at $318k</a:t>
            </a:r>
          </a:p>
          <a:p>
            <a:pPr>
              <a:lnSpc>
                <a:spcPct val="106000"/>
              </a:lnSpc>
              <a:spcAft>
                <a:spcPts val="800"/>
              </a:spcAft>
            </a:pPr>
            <a:r>
              <a:rPr sz="1450" b="1">
                <a:solidFill>
                  <a:srgbClr val="C9A227"/>
                </a:solidFill>
                <a:latin typeface="Calibri"/>
              </a:rPr>
              <a:t>▪  </a:t>
            </a:r>
            <a:r>
              <a:rPr sz="1450" b="0" i="0">
                <a:solidFill>
                  <a:srgbClr val="212121"/>
                </a:solidFill>
                <a:latin typeface="Calibri"/>
              </a:rPr>
              <a:t>Premium areas sit in the north and northwest; distance to downtown correlates at only +0.28</a:t>
            </a:r>
          </a:p>
          <a:p>
            <a:pPr>
              <a:lnSpc>
                <a:spcPct val="106000"/>
              </a:lnSpc>
              <a:spcAft>
                <a:spcPts val="800"/>
              </a:spcAft>
            </a:pPr>
            <a:r>
              <a:rPr sz="1450" b="1">
                <a:solidFill>
                  <a:srgbClr val="C9A227"/>
                </a:solidFill>
                <a:latin typeface="Calibri"/>
              </a:rPr>
              <a:t>▪  </a:t>
            </a:r>
            <a:r>
              <a:rPr sz="1450" b="0" i="0">
                <a:solidFill>
                  <a:srgbClr val="212121"/>
                </a:solidFill>
                <a:latin typeface="Calibri"/>
              </a:rPr>
              <a:t>So location value is </a:t>
            </a:r>
            <a:r>
              <a:rPr sz="1450" b="1" i="0">
                <a:solidFill>
                  <a:srgbClr val="212121"/>
                </a:solidFill>
                <a:latin typeface="Calibri"/>
              </a:rPr>
              <a:t>neighborhood identity, not radial distance</a:t>
            </a:r>
            <a:r>
              <a:rPr sz="1450" b="0" i="0">
                <a:solidFill>
                  <a:srgbClr val="212121"/>
                </a:solidFill>
                <a:latin typeface="Calibri"/>
              </a:rPr>
              <a:t>, which justifies neighborhood statistics and DBSCAN micro-markets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EDA: Data Quality, Missingness &amp; Outliers</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8</a:t>
            </a:r>
          </a:p>
        </p:txBody>
      </p:sp>
      <p:pic>
        <p:nvPicPr>
          <p:cNvPr id="7" name="Picture 6" descr="12_missingness_raw.png"/>
          <p:cNvPicPr>
            <a:picLocks noChangeAspect="1"/>
          </p:cNvPicPr>
          <p:nvPr/>
        </p:nvPicPr>
        <p:blipFill>
          <a:blip r:embed="rId2"/>
          <a:stretch>
            <a:fillRect/>
          </a:stretch>
        </p:blipFill>
        <p:spPr>
          <a:xfrm>
            <a:off x="502920" y="1653420"/>
            <a:ext cx="5852159" cy="4282679"/>
          </a:xfrm>
          <a:prstGeom prst="rect">
            <a:avLst/>
          </a:prstGeom>
        </p:spPr>
      </p:pic>
      <p:pic>
        <p:nvPicPr>
          <p:cNvPr id="8" name="Picture 7" descr="13_outliers.png"/>
          <p:cNvPicPr>
            <a:picLocks noChangeAspect="1"/>
          </p:cNvPicPr>
          <p:nvPr/>
        </p:nvPicPr>
        <p:blipFill>
          <a:blip r:embed="rId3"/>
          <a:stretch>
            <a:fillRect/>
          </a:stretch>
        </p:blipFill>
        <p:spPr>
          <a:xfrm>
            <a:off x="6629400" y="1903748"/>
            <a:ext cx="5074920" cy="2044663"/>
          </a:xfrm>
          <a:prstGeom prst="rect">
            <a:avLst/>
          </a:prstGeom>
        </p:spPr>
      </p:pic>
      <p:sp>
        <p:nvSpPr>
          <p:cNvPr id="9" name="TextBox 8"/>
          <p:cNvSpPr txBox="1"/>
          <p:nvPr/>
        </p:nvSpPr>
        <p:spPr>
          <a:xfrm>
            <a:off x="6766560" y="4709160"/>
            <a:ext cx="4937760" cy="1645920"/>
          </a:xfrm>
          <a:prstGeom prst="rect">
            <a:avLst/>
          </a:prstGeom>
          <a:noFill/>
        </p:spPr>
        <p:txBody>
          <a:bodyPr wrap="square">
            <a:spAutoFit/>
          </a:bodyPr>
          <a:lstStyle/>
          <a:p>
            <a:pPr>
              <a:lnSpc>
                <a:spcPct val="106000"/>
              </a:lnSpc>
              <a:spcAft>
                <a:spcPts val="800"/>
              </a:spcAft>
            </a:pPr>
            <a:r>
              <a:rPr sz="1450" b="1">
                <a:solidFill>
                  <a:srgbClr val="C9A227"/>
                </a:solidFill>
                <a:latin typeface="Calibri"/>
              </a:rPr>
              <a:t>▪  </a:t>
            </a:r>
            <a:r>
              <a:rPr sz="1450" b="0" i="0">
                <a:solidFill>
                  <a:srgbClr val="212121"/>
                </a:solidFill>
                <a:latin typeface="Calibri"/>
              </a:rPr>
              <a:t>19 raw columns have gaps, nearly all </a:t>
            </a:r>
            <a:r>
              <a:rPr sz="1450" b="1" i="0">
                <a:solidFill>
                  <a:srgbClr val="212121"/>
                </a:solidFill>
                <a:latin typeface="Calibri"/>
              </a:rPr>
              <a:t>structural</a:t>
            </a:r>
            <a:r>
              <a:rPr sz="1450" b="0" i="0">
                <a:solidFill>
                  <a:srgbClr val="212121"/>
                </a:solidFill>
                <a:latin typeface="Calibri"/>
              </a:rPr>
              <a:t> (PoolQC 99.5%), filled as “None” rather than imputed</a:t>
            </a:r>
          </a:p>
          <a:p>
            <a:pPr>
              <a:lnSpc>
                <a:spcPct val="106000"/>
              </a:lnSpc>
              <a:spcAft>
                <a:spcPts val="800"/>
              </a:spcAft>
            </a:pPr>
            <a:r>
              <a:rPr sz="1450" b="1">
                <a:solidFill>
                  <a:srgbClr val="C9A227"/>
                </a:solidFill>
                <a:latin typeface="Calibri"/>
              </a:rPr>
              <a:t>▪  </a:t>
            </a:r>
            <a:r>
              <a:rPr sz="1450" b="0" i="0">
                <a:solidFill>
                  <a:srgbClr val="212121"/>
                </a:solidFill>
                <a:latin typeface="Calibri"/>
              </a:rPr>
              <a:t>Only LotFrontage (17.7%) is genuinely imputed, with train-fit neighborhood medians</a:t>
            </a:r>
          </a:p>
          <a:p>
            <a:pPr>
              <a:lnSpc>
                <a:spcPct val="106000"/>
              </a:lnSpc>
              <a:spcAft>
                <a:spcPts val="800"/>
              </a:spcAft>
            </a:pPr>
            <a:r>
              <a:rPr sz="1450" b="1">
                <a:solidFill>
                  <a:srgbClr val="C9A227"/>
                </a:solidFill>
                <a:latin typeface="Calibri"/>
              </a:rPr>
              <a:t>▪  </a:t>
            </a:r>
            <a:r>
              <a:rPr sz="1450" b="1" i="0">
                <a:solidFill>
                  <a:srgbClr val="212121"/>
                </a:solidFill>
                <a:latin typeface="Calibri"/>
              </a:rPr>
              <a:t>Exactly 2 outliers removed</a:t>
            </a:r>
            <a:r>
              <a:rPr sz="1450" b="0" i="0">
                <a:solidFill>
                  <a:srgbClr val="212121"/>
                </a:solidFill>
                <a:latin typeface="Calibri"/>
              </a:rPr>
              <a:t> (verified partial sales); the 39 luxury rows above the outlier fence are real signal, so kept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EDA: Seasonality &amp; the Sale-Speed Target</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9</a:t>
            </a:r>
          </a:p>
        </p:txBody>
      </p:sp>
      <p:pic>
        <p:nvPicPr>
          <p:cNvPr id="7" name="Picture 6" descr="14_seasonality.png"/>
          <p:cNvPicPr>
            <a:picLocks noChangeAspect="1"/>
          </p:cNvPicPr>
          <p:nvPr/>
        </p:nvPicPr>
        <p:blipFill>
          <a:blip r:embed="rId2"/>
          <a:stretch>
            <a:fillRect/>
          </a:stretch>
        </p:blipFill>
        <p:spPr>
          <a:xfrm>
            <a:off x="502920" y="2848199"/>
            <a:ext cx="5852160" cy="1893121"/>
          </a:xfrm>
          <a:prstGeom prst="rect">
            <a:avLst/>
          </a:prstGeom>
        </p:spPr>
      </p:pic>
      <p:pic>
        <p:nvPicPr>
          <p:cNvPr id="8" name="Picture 7" descr="10_days_on_market.png"/>
          <p:cNvPicPr>
            <a:picLocks noChangeAspect="1"/>
          </p:cNvPicPr>
          <p:nvPr/>
        </p:nvPicPr>
        <p:blipFill>
          <a:blip r:embed="rId3"/>
          <a:stretch>
            <a:fillRect/>
          </a:stretch>
        </p:blipFill>
        <p:spPr>
          <a:xfrm>
            <a:off x="6629400" y="1916247"/>
            <a:ext cx="5074920" cy="2019666"/>
          </a:xfrm>
          <a:prstGeom prst="rect">
            <a:avLst/>
          </a:prstGeom>
        </p:spPr>
      </p:pic>
      <p:sp>
        <p:nvSpPr>
          <p:cNvPr id="9" name="TextBox 8"/>
          <p:cNvSpPr txBox="1"/>
          <p:nvPr/>
        </p:nvSpPr>
        <p:spPr>
          <a:xfrm>
            <a:off x="6766560" y="4709160"/>
            <a:ext cx="4937760" cy="1645920"/>
          </a:xfrm>
          <a:prstGeom prst="rect">
            <a:avLst/>
          </a:prstGeom>
          <a:noFill/>
        </p:spPr>
        <p:txBody>
          <a:bodyPr wrap="square">
            <a:spAutoFit/>
          </a:bodyPr>
          <a:lstStyle/>
          <a:p>
            <a:pPr>
              <a:lnSpc>
                <a:spcPct val="106000"/>
              </a:lnSpc>
              <a:spcAft>
                <a:spcPts val="800"/>
              </a:spcAft>
            </a:pPr>
            <a:r>
              <a:rPr sz="1450" b="1">
                <a:solidFill>
                  <a:srgbClr val="C9A227"/>
                </a:solidFill>
                <a:latin typeface="Calibri"/>
              </a:rPr>
              <a:t>▪  </a:t>
            </a:r>
            <a:r>
              <a:rPr sz="1450" b="0" i="0">
                <a:solidFill>
                  <a:srgbClr val="212121"/>
                </a:solidFill>
                <a:latin typeface="Calibri"/>
              </a:rPr>
              <a:t>Volume is seasonal (July 167 sales vs February 27) but the </a:t>
            </a:r>
            <a:r>
              <a:rPr sz="1450" b="1" i="0">
                <a:solidFill>
                  <a:srgbClr val="212121"/>
                </a:solidFill>
                <a:latin typeface="Calibri"/>
              </a:rPr>
              <a:t>price level barely moves</a:t>
            </a:r>
          </a:p>
          <a:p>
            <a:pPr>
              <a:lnSpc>
                <a:spcPct val="106000"/>
              </a:lnSpc>
              <a:spcAft>
                <a:spcPts val="800"/>
              </a:spcAft>
            </a:pPr>
            <a:r>
              <a:rPr sz="1450" b="1">
                <a:solidFill>
                  <a:srgbClr val="C9A227"/>
                </a:solidFill>
                <a:latin typeface="Calibri"/>
              </a:rPr>
              <a:t>▪  </a:t>
            </a:r>
            <a:r>
              <a:rPr sz="1450" b="0" i="0">
                <a:solidFill>
                  <a:srgbClr val="212121"/>
                </a:solidFill>
                <a:latin typeface="Calibri"/>
              </a:rPr>
              <a:t>Median price moved only +0.6% from 2006 to 2008; no shock at the split boundary</a:t>
            </a:r>
          </a:p>
          <a:p>
            <a:pPr>
              <a:lnSpc>
                <a:spcPct val="106000"/>
              </a:lnSpc>
              <a:spcAft>
                <a:spcPts val="800"/>
              </a:spcAft>
            </a:pPr>
            <a:r>
              <a:rPr sz="1450" b="1">
                <a:solidFill>
                  <a:srgbClr val="C9A227"/>
                </a:solidFill>
                <a:latin typeface="Calibri"/>
              </a:rPr>
              <a:t>▪  </a:t>
            </a:r>
            <a:r>
              <a:rPr sz="1450" b="1" i="0">
                <a:solidFill>
                  <a:srgbClr val="212121"/>
                </a:solidFill>
                <a:latin typeface="Calibri"/>
              </a:rPr>
              <a:t>Simulated days on market:</a:t>
            </a:r>
            <a:r>
              <a:rPr sz="1450" b="0" i="0">
                <a:solidFill>
                  <a:srgbClr val="212121"/>
                </a:solidFill>
                <a:latin typeface="Calibri"/>
              </a:rPr>
              <a:t> median 41 days, 25.3% fast sales, so imbalance-aware modeling with PR-AUC as the primary metric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What the EDA Tells Us to Build</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10</a:t>
            </a:r>
          </a:p>
        </p:txBody>
      </p:sp>
      <p:sp>
        <p:nvSpPr>
          <p:cNvPr id="7" name="TextBox 6"/>
          <p:cNvSpPr txBox="1"/>
          <p:nvPr/>
        </p:nvSpPr>
        <p:spPr>
          <a:xfrm>
            <a:off x="685800" y="1463040"/>
            <a:ext cx="502920" cy="457200"/>
          </a:xfrm>
          <a:prstGeom prst="rect">
            <a:avLst/>
          </a:prstGeom>
          <a:noFill/>
        </p:spPr>
        <p:txBody>
          <a:bodyPr wrap="square" anchor="t">
            <a:spAutoFit/>
          </a:bodyPr>
          <a:lstStyle/>
          <a:p>
            <a:pPr algn="l">
              <a:lnSpc>
                <a:spcPct val="100000"/>
              </a:lnSpc>
              <a:spcAft>
                <a:spcPts val="600"/>
              </a:spcAft>
            </a:pPr>
            <a:r>
              <a:rPr sz="2000" b="1" i="0">
                <a:solidFill>
                  <a:srgbClr val="C9A227"/>
                </a:solidFill>
                <a:latin typeface="Calibri"/>
              </a:rPr>
              <a:t>1</a:t>
            </a:r>
          </a:p>
        </p:txBody>
      </p:sp>
      <p:sp>
        <p:nvSpPr>
          <p:cNvPr id="8" name="TextBox 7"/>
          <p:cNvSpPr txBox="1"/>
          <p:nvPr/>
        </p:nvSpPr>
        <p:spPr>
          <a:xfrm>
            <a:off x="1325880" y="1463040"/>
            <a:ext cx="10149840" cy="685800"/>
          </a:xfrm>
          <a:prstGeom prst="rect">
            <a:avLst/>
          </a:prstGeom>
          <a:noFill/>
        </p:spPr>
        <p:txBody>
          <a:bodyPr wrap="square" anchor="t">
            <a:spAutoFit/>
          </a:bodyPr>
          <a:lstStyle/>
          <a:p>
            <a:pPr algn="l">
              <a:lnSpc>
                <a:spcPct val="105000"/>
              </a:lnSpc>
              <a:spcAft>
                <a:spcPts val="600"/>
              </a:spcAft>
            </a:pPr>
            <a:r>
              <a:rPr sz="1650" b="1" i="0">
                <a:solidFill>
                  <a:srgbClr val="1F3864"/>
                </a:solidFill>
                <a:latin typeface="Calibri"/>
              </a:rPr>
              <a:t>Log target is mandatory:  </a:t>
            </a:r>
            <a:r>
              <a:rPr sz="1650" b="0" i="0">
                <a:solidFill>
                  <a:srgbClr val="212121"/>
                </a:solidFill>
                <a:latin typeface="Calibri"/>
              </a:rPr>
              <a:t>skewness 1.967 down to 0.175, RMSLE as the primary metric</a:t>
            </a:r>
          </a:p>
        </p:txBody>
      </p:sp>
      <p:sp>
        <p:nvSpPr>
          <p:cNvPr id="9" name="TextBox 8"/>
          <p:cNvSpPr txBox="1"/>
          <p:nvPr/>
        </p:nvSpPr>
        <p:spPr>
          <a:xfrm>
            <a:off x="685800" y="2249424"/>
            <a:ext cx="502920" cy="457200"/>
          </a:xfrm>
          <a:prstGeom prst="rect">
            <a:avLst/>
          </a:prstGeom>
          <a:noFill/>
        </p:spPr>
        <p:txBody>
          <a:bodyPr wrap="square" anchor="t">
            <a:spAutoFit/>
          </a:bodyPr>
          <a:lstStyle/>
          <a:p>
            <a:pPr algn="l">
              <a:lnSpc>
                <a:spcPct val="100000"/>
              </a:lnSpc>
              <a:spcAft>
                <a:spcPts val="600"/>
              </a:spcAft>
            </a:pPr>
            <a:r>
              <a:rPr sz="2000" b="1" i="0">
                <a:solidFill>
                  <a:srgbClr val="C9A227"/>
                </a:solidFill>
                <a:latin typeface="Calibri"/>
              </a:rPr>
              <a:t>2</a:t>
            </a:r>
          </a:p>
        </p:txBody>
      </p:sp>
      <p:sp>
        <p:nvSpPr>
          <p:cNvPr id="10" name="TextBox 9"/>
          <p:cNvSpPr txBox="1"/>
          <p:nvPr/>
        </p:nvSpPr>
        <p:spPr>
          <a:xfrm>
            <a:off x="1325880" y="2249424"/>
            <a:ext cx="10149840" cy="685800"/>
          </a:xfrm>
          <a:prstGeom prst="rect">
            <a:avLst/>
          </a:prstGeom>
          <a:noFill/>
        </p:spPr>
        <p:txBody>
          <a:bodyPr wrap="square" anchor="t">
            <a:spAutoFit/>
          </a:bodyPr>
          <a:lstStyle/>
          <a:p>
            <a:pPr algn="l">
              <a:lnSpc>
                <a:spcPct val="105000"/>
              </a:lnSpc>
              <a:spcAft>
                <a:spcPts val="600"/>
              </a:spcAft>
            </a:pPr>
            <a:r>
              <a:rPr sz="1650" b="1" i="0">
                <a:solidFill>
                  <a:srgbClr val="1F3864"/>
                </a:solidFill>
                <a:latin typeface="Calibri"/>
              </a:rPr>
              <a:t>Trees plus a regularized linear baseline:  </a:t>
            </a:r>
            <a:r>
              <a:rPr sz="1650" b="0" i="0">
                <a:solidFill>
                  <a:srgbClr val="212121"/>
                </a:solidFill>
                <a:latin typeface="Calibri"/>
              </a:rPr>
              <a:t>non-linear size effects and non-monotone age; the linear model stays as the interpretable benchmark</a:t>
            </a:r>
          </a:p>
        </p:txBody>
      </p:sp>
      <p:sp>
        <p:nvSpPr>
          <p:cNvPr id="11" name="TextBox 10"/>
          <p:cNvSpPr txBox="1"/>
          <p:nvPr/>
        </p:nvSpPr>
        <p:spPr>
          <a:xfrm>
            <a:off x="685800" y="3035808"/>
            <a:ext cx="502920" cy="457200"/>
          </a:xfrm>
          <a:prstGeom prst="rect">
            <a:avLst/>
          </a:prstGeom>
          <a:noFill/>
        </p:spPr>
        <p:txBody>
          <a:bodyPr wrap="square" anchor="t">
            <a:spAutoFit/>
          </a:bodyPr>
          <a:lstStyle/>
          <a:p>
            <a:pPr algn="l">
              <a:lnSpc>
                <a:spcPct val="100000"/>
              </a:lnSpc>
              <a:spcAft>
                <a:spcPts val="600"/>
              </a:spcAft>
            </a:pPr>
            <a:r>
              <a:rPr sz="2000" b="1" i="0">
                <a:solidFill>
                  <a:srgbClr val="C9A227"/>
                </a:solidFill>
                <a:latin typeface="Calibri"/>
              </a:rPr>
              <a:t>3</a:t>
            </a:r>
          </a:p>
        </p:txBody>
      </p:sp>
      <p:sp>
        <p:nvSpPr>
          <p:cNvPr id="12" name="TextBox 11"/>
          <p:cNvSpPr txBox="1"/>
          <p:nvPr/>
        </p:nvSpPr>
        <p:spPr>
          <a:xfrm>
            <a:off x="1325880" y="3035808"/>
            <a:ext cx="10149840" cy="685800"/>
          </a:xfrm>
          <a:prstGeom prst="rect">
            <a:avLst/>
          </a:prstGeom>
          <a:noFill/>
        </p:spPr>
        <p:txBody>
          <a:bodyPr wrap="square" anchor="t">
            <a:spAutoFit/>
          </a:bodyPr>
          <a:lstStyle/>
          <a:p>
            <a:pPr algn="l">
              <a:lnSpc>
                <a:spcPct val="105000"/>
              </a:lnSpc>
              <a:spcAft>
                <a:spcPts val="600"/>
              </a:spcAft>
            </a:pPr>
            <a:r>
              <a:rPr sz="1650" b="1" i="0">
                <a:solidFill>
                  <a:srgbClr val="1F3864"/>
                </a:solidFill>
                <a:latin typeface="Calibri"/>
              </a:rPr>
              <a:t>Expected feature hierarchy:  </a:t>
            </a:r>
            <a:r>
              <a:rPr sz="1650" b="0" i="0">
                <a:solidFill>
                  <a:srgbClr val="212121"/>
                </a:solidFill>
                <a:latin typeface="Calibri"/>
              </a:rPr>
              <a:t>OverallQual first, then the size block, neighborhood, and age; importance read in groups</a:t>
            </a:r>
          </a:p>
        </p:txBody>
      </p:sp>
      <p:sp>
        <p:nvSpPr>
          <p:cNvPr id="13" name="TextBox 12"/>
          <p:cNvSpPr txBox="1"/>
          <p:nvPr/>
        </p:nvSpPr>
        <p:spPr>
          <a:xfrm>
            <a:off x="685800" y="3822192"/>
            <a:ext cx="502920" cy="457200"/>
          </a:xfrm>
          <a:prstGeom prst="rect">
            <a:avLst/>
          </a:prstGeom>
          <a:noFill/>
        </p:spPr>
        <p:txBody>
          <a:bodyPr wrap="square" anchor="t">
            <a:spAutoFit/>
          </a:bodyPr>
          <a:lstStyle/>
          <a:p>
            <a:pPr algn="l">
              <a:lnSpc>
                <a:spcPct val="100000"/>
              </a:lnSpc>
              <a:spcAft>
                <a:spcPts val="600"/>
              </a:spcAft>
            </a:pPr>
            <a:r>
              <a:rPr sz="2000" b="1" i="0">
                <a:solidFill>
                  <a:srgbClr val="C9A227"/>
                </a:solidFill>
                <a:latin typeface="Calibri"/>
              </a:rPr>
              <a:t>4</a:t>
            </a:r>
          </a:p>
        </p:txBody>
      </p:sp>
      <p:sp>
        <p:nvSpPr>
          <p:cNvPr id="14" name="TextBox 13"/>
          <p:cNvSpPr txBox="1"/>
          <p:nvPr/>
        </p:nvSpPr>
        <p:spPr>
          <a:xfrm>
            <a:off x="1325880" y="3822192"/>
            <a:ext cx="10149840" cy="685800"/>
          </a:xfrm>
          <a:prstGeom prst="rect">
            <a:avLst/>
          </a:prstGeom>
          <a:noFill/>
        </p:spPr>
        <p:txBody>
          <a:bodyPr wrap="square" anchor="t">
            <a:spAutoFit/>
          </a:bodyPr>
          <a:lstStyle/>
          <a:p>
            <a:pPr algn="l">
              <a:lnSpc>
                <a:spcPct val="105000"/>
              </a:lnSpc>
              <a:spcAft>
                <a:spcPts val="600"/>
              </a:spcAft>
            </a:pPr>
            <a:r>
              <a:rPr sz="1650" b="1" i="0">
                <a:solidFill>
                  <a:srgbClr val="1F3864"/>
                </a:solidFill>
                <a:latin typeface="Calibri"/>
              </a:rPr>
              <a:t>Hard leakage guards:  </a:t>
            </a:r>
            <a:r>
              <a:rPr sz="1650" b="0" i="0">
                <a:solidFill>
                  <a:srgbClr val="212121"/>
                </a:solidFill>
                <a:latin typeface="Calibri"/>
              </a:rPr>
              <a:t>price per sq ft is EDA-only, statistics fit on train only, SaleType and SaleCondition excluded, days on market never a feature</a:t>
            </a:r>
          </a:p>
        </p:txBody>
      </p:sp>
      <p:sp>
        <p:nvSpPr>
          <p:cNvPr id="15" name="TextBox 14"/>
          <p:cNvSpPr txBox="1"/>
          <p:nvPr/>
        </p:nvSpPr>
        <p:spPr>
          <a:xfrm>
            <a:off x="685800" y="4608576"/>
            <a:ext cx="502920" cy="457200"/>
          </a:xfrm>
          <a:prstGeom prst="rect">
            <a:avLst/>
          </a:prstGeom>
          <a:noFill/>
        </p:spPr>
        <p:txBody>
          <a:bodyPr wrap="square" anchor="t">
            <a:spAutoFit/>
          </a:bodyPr>
          <a:lstStyle/>
          <a:p>
            <a:pPr algn="l">
              <a:lnSpc>
                <a:spcPct val="100000"/>
              </a:lnSpc>
              <a:spcAft>
                <a:spcPts val="600"/>
              </a:spcAft>
            </a:pPr>
            <a:r>
              <a:rPr sz="2000" b="1" i="0">
                <a:solidFill>
                  <a:srgbClr val="C9A227"/>
                </a:solidFill>
                <a:latin typeface="Calibri"/>
              </a:rPr>
              <a:t>5</a:t>
            </a:r>
          </a:p>
        </p:txBody>
      </p:sp>
      <p:sp>
        <p:nvSpPr>
          <p:cNvPr id="16" name="TextBox 15"/>
          <p:cNvSpPr txBox="1"/>
          <p:nvPr/>
        </p:nvSpPr>
        <p:spPr>
          <a:xfrm>
            <a:off x="1325880" y="4608576"/>
            <a:ext cx="10149840" cy="685800"/>
          </a:xfrm>
          <a:prstGeom prst="rect">
            <a:avLst/>
          </a:prstGeom>
          <a:noFill/>
        </p:spPr>
        <p:txBody>
          <a:bodyPr wrap="square" anchor="t">
            <a:spAutoFit/>
          </a:bodyPr>
          <a:lstStyle/>
          <a:p>
            <a:pPr algn="l">
              <a:lnSpc>
                <a:spcPct val="105000"/>
              </a:lnSpc>
              <a:spcAft>
                <a:spcPts val="600"/>
              </a:spcAft>
            </a:pPr>
            <a:r>
              <a:rPr sz="1650" b="1" i="0">
                <a:solidFill>
                  <a:srgbClr val="1F3864"/>
                </a:solidFill>
                <a:latin typeface="Calibri"/>
              </a:rPr>
              <a:t>Imbalance-aware classification:  </a:t>
            </a:r>
            <a:r>
              <a:rPr sz="1650" b="0" i="0">
                <a:solidFill>
                  <a:srgbClr val="212121"/>
                </a:solidFill>
                <a:latin typeface="Calibri"/>
              </a:rPr>
              <a:t>25.3% fast-sale rate, so class weights, PR-AUC primary, and a calibration check</a:t>
            </a:r>
          </a:p>
        </p:txBody>
      </p:sp>
      <p:sp>
        <p:nvSpPr>
          <p:cNvPr id="17" name="TextBox 16"/>
          <p:cNvSpPr txBox="1"/>
          <p:nvPr/>
        </p:nvSpPr>
        <p:spPr>
          <a:xfrm>
            <a:off x="685800" y="5394960"/>
            <a:ext cx="502920" cy="457200"/>
          </a:xfrm>
          <a:prstGeom prst="rect">
            <a:avLst/>
          </a:prstGeom>
          <a:noFill/>
        </p:spPr>
        <p:txBody>
          <a:bodyPr wrap="square" anchor="t">
            <a:spAutoFit/>
          </a:bodyPr>
          <a:lstStyle/>
          <a:p>
            <a:pPr algn="l">
              <a:lnSpc>
                <a:spcPct val="100000"/>
              </a:lnSpc>
              <a:spcAft>
                <a:spcPts val="600"/>
              </a:spcAft>
            </a:pPr>
            <a:r>
              <a:rPr sz="2000" b="1" i="0">
                <a:solidFill>
                  <a:srgbClr val="C9A227"/>
                </a:solidFill>
                <a:latin typeface="Calibri"/>
              </a:rPr>
              <a:t>6</a:t>
            </a:r>
          </a:p>
        </p:txBody>
      </p:sp>
      <p:sp>
        <p:nvSpPr>
          <p:cNvPr id="18" name="TextBox 17"/>
          <p:cNvSpPr txBox="1"/>
          <p:nvPr/>
        </p:nvSpPr>
        <p:spPr>
          <a:xfrm>
            <a:off x="1325880" y="5394960"/>
            <a:ext cx="10149840" cy="685800"/>
          </a:xfrm>
          <a:prstGeom prst="rect">
            <a:avLst/>
          </a:prstGeom>
          <a:noFill/>
        </p:spPr>
        <p:txBody>
          <a:bodyPr wrap="square" anchor="t">
            <a:spAutoFit/>
          </a:bodyPr>
          <a:lstStyle/>
          <a:p>
            <a:pPr algn="l">
              <a:lnSpc>
                <a:spcPct val="105000"/>
              </a:lnSpc>
              <a:spcAft>
                <a:spcPts val="600"/>
              </a:spcAft>
            </a:pPr>
            <a:r>
              <a:rPr sz="1650" b="1" i="0">
                <a:solidFill>
                  <a:srgbClr val="1F3864"/>
                </a:solidFill>
                <a:latin typeface="Calibri"/>
              </a:rPr>
              <a:t>Neighborhood-grain clustering:  </a:t>
            </a:r>
            <a:r>
              <a:rPr sz="1650" b="0" i="0">
                <a:solidFill>
                  <a:srgbClr val="212121"/>
                </a:solidFill>
                <a:latin typeface="Calibri"/>
              </a:rPr>
              <a:t>median price per sq ft, sale velocity, and coordinates feed the DBSCAN micro-markets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Repository &amp; Current Status</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11</a:t>
            </a:r>
          </a:p>
        </p:txBody>
      </p:sp>
      <p:sp>
        <p:nvSpPr>
          <p:cNvPr id="7" name="TextBox 6"/>
          <p:cNvSpPr txBox="1"/>
          <p:nvPr/>
        </p:nvSpPr>
        <p:spPr>
          <a:xfrm>
            <a:off x="685800" y="1371600"/>
            <a:ext cx="10817352" cy="411480"/>
          </a:xfrm>
          <a:prstGeom prst="rect">
            <a:avLst/>
          </a:prstGeom>
          <a:noFill/>
        </p:spPr>
        <p:txBody>
          <a:bodyPr wrap="square" anchor="t">
            <a:spAutoFit/>
          </a:bodyPr>
          <a:lstStyle/>
          <a:p>
            <a:pPr algn="l">
              <a:lnSpc>
                <a:spcPct val="100000"/>
              </a:lnSpc>
              <a:spcAft>
                <a:spcPts val="600"/>
              </a:spcAft>
            </a:pPr>
            <a:r>
              <a:rPr sz="1900" b="1" i="0">
                <a:solidFill>
                  <a:srgbClr val="1F3864"/>
                </a:solidFill>
                <a:latin typeface="Calibri"/>
              </a:rPr>
              <a:t>github.com/rushmanthnalluri/prop-pulse</a:t>
            </a:r>
            <a:r>
              <a:rPr sz="1300" b="0" i="0">
                <a:solidFill>
                  <a:srgbClr val="666666"/>
                </a:solidFill>
                <a:latin typeface="Calibri"/>
              </a:rPr>
              <a:t>   (branch: main). Everything shown today is committed.</a:t>
            </a:r>
          </a:p>
        </p:txBody>
      </p:sp>
      <p:sp>
        <p:nvSpPr>
          <p:cNvPr id="8" name="TextBox 7"/>
          <p:cNvSpPr txBox="1"/>
          <p:nvPr/>
        </p:nvSpPr>
        <p:spPr>
          <a:xfrm>
            <a:off x="685800" y="2057400"/>
            <a:ext cx="5486400" cy="4023360"/>
          </a:xfrm>
          <a:prstGeom prst="rect">
            <a:avLst/>
          </a:prstGeom>
          <a:noFill/>
        </p:spPr>
        <p:txBody>
          <a:bodyPr wrap="square">
            <a:spAutoFit/>
          </a:bodyPr>
          <a:lstStyle/>
          <a:p>
            <a:pPr>
              <a:lnSpc>
                <a:spcPct val="106000"/>
              </a:lnSpc>
              <a:spcAft>
                <a:spcPts val="900"/>
              </a:spcAft>
            </a:pPr>
            <a:r>
              <a:rPr sz="1500" b="1">
                <a:solidFill>
                  <a:srgbClr val="C9A227"/>
                </a:solidFill>
                <a:latin typeface="Calibri"/>
              </a:rPr>
              <a:t>▪  </a:t>
            </a:r>
            <a:r>
              <a:rPr sz="1500" b="1" i="0">
                <a:solidFill>
                  <a:srgbClr val="212121"/>
                </a:solidFill>
                <a:latin typeface="Calibri"/>
              </a:rPr>
              <a:t>ml/</a:t>
            </a:r>
            <a:r>
              <a:rPr sz="1500" b="0" i="0">
                <a:solidFill>
                  <a:srgbClr val="212121"/>
                </a:solidFill>
                <a:latin typeface="Calibri"/>
              </a:rPr>
              <a:t>  data, features, training, evaluation, clustering, explainability, monitoring</a:t>
            </a:r>
          </a:p>
          <a:p>
            <a:pPr>
              <a:lnSpc>
                <a:spcPct val="106000"/>
              </a:lnSpc>
              <a:spcAft>
                <a:spcPts val="900"/>
              </a:spcAft>
            </a:pPr>
            <a:r>
              <a:rPr sz="1500" b="1">
                <a:solidFill>
                  <a:srgbClr val="C9A227"/>
                </a:solidFill>
                <a:latin typeface="Calibri"/>
              </a:rPr>
              <a:t>▪  </a:t>
            </a:r>
            <a:r>
              <a:rPr sz="1500" b="1" i="0">
                <a:solidFill>
                  <a:srgbClr val="212121"/>
                </a:solidFill>
                <a:latin typeface="Calibri"/>
              </a:rPr>
              <a:t>backend/</a:t>
            </a:r>
            <a:r>
              <a:rPr sz="1500" b="0" i="0">
                <a:solidFill>
                  <a:srgbClr val="212121"/>
                </a:solidFill>
                <a:latin typeface="Calibri"/>
              </a:rPr>
              <a:t>  FastAPI service and API tests</a:t>
            </a:r>
          </a:p>
          <a:p>
            <a:pPr>
              <a:lnSpc>
                <a:spcPct val="106000"/>
              </a:lnSpc>
              <a:spcAft>
                <a:spcPts val="900"/>
              </a:spcAft>
            </a:pPr>
            <a:r>
              <a:rPr sz="1500" b="1">
                <a:solidFill>
                  <a:srgbClr val="C9A227"/>
                </a:solidFill>
                <a:latin typeface="Calibri"/>
              </a:rPr>
              <a:t>▪  </a:t>
            </a:r>
            <a:r>
              <a:rPr sz="1500" b="1" i="0">
                <a:solidFill>
                  <a:srgbClr val="212121"/>
                </a:solidFill>
                <a:latin typeface="Calibri"/>
              </a:rPr>
              <a:t>frontend/</a:t>
            </a:r>
            <a:r>
              <a:rPr sz="1500" b="0" i="0">
                <a:solidFill>
                  <a:srgbClr val="212121"/>
                </a:solidFill>
                <a:latin typeface="Calibri"/>
              </a:rPr>
              <a:t>  React dashboard (Vite)</a:t>
            </a:r>
          </a:p>
          <a:p>
            <a:pPr>
              <a:lnSpc>
                <a:spcPct val="106000"/>
              </a:lnSpc>
              <a:spcAft>
                <a:spcPts val="900"/>
              </a:spcAft>
            </a:pPr>
            <a:r>
              <a:rPr sz="1500" b="1">
                <a:solidFill>
                  <a:srgbClr val="C9A227"/>
                </a:solidFill>
                <a:latin typeface="Calibri"/>
              </a:rPr>
              <a:t>▪  </a:t>
            </a:r>
            <a:r>
              <a:rPr sz="1500" b="1" i="0">
                <a:solidFill>
                  <a:srgbClr val="212121"/>
                </a:solidFill>
                <a:latin typeface="Calibri"/>
              </a:rPr>
              <a:t>notebooks/</a:t>
            </a:r>
            <a:r>
              <a:rPr sz="1500" b="0" i="0">
                <a:solidFill>
                  <a:srgbClr val="212121"/>
                </a:solidFill>
                <a:latin typeface="Calibri"/>
              </a:rPr>
              <a:t>  01_eda.ipynb, fully executed, 16 of 16 cells, reproduces all 14 figures</a:t>
            </a:r>
          </a:p>
          <a:p>
            <a:pPr>
              <a:lnSpc>
                <a:spcPct val="106000"/>
              </a:lnSpc>
              <a:spcAft>
                <a:spcPts val="900"/>
              </a:spcAft>
            </a:pPr>
            <a:r>
              <a:rPr sz="1500" b="1">
                <a:solidFill>
                  <a:srgbClr val="C9A227"/>
                </a:solidFill>
                <a:latin typeface="Calibri"/>
              </a:rPr>
              <a:t>▪  </a:t>
            </a:r>
            <a:r>
              <a:rPr sz="1500" b="1" i="0">
                <a:solidFill>
                  <a:srgbClr val="212121"/>
                </a:solidFill>
                <a:latin typeface="Calibri"/>
              </a:rPr>
              <a:t>reports/ and figures/</a:t>
            </a:r>
            <a:r>
              <a:rPr sz="1500" b="0" i="0">
                <a:solidFill>
                  <a:srgbClr val="212121"/>
                </a:solidFill>
                <a:latin typeface="Calibri"/>
              </a:rPr>
              <a:t>  EDA report, audits, and all figures</a:t>
            </a:r>
          </a:p>
          <a:p>
            <a:pPr>
              <a:lnSpc>
                <a:spcPct val="106000"/>
              </a:lnSpc>
              <a:spcAft>
                <a:spcPts val="900"/>
              </a:spcAft>
            </a:pPr>
            <a:r>
              <a:rPr sz="1500" b="1">
                <a:solidFill>
                  <a:srgbClr val="C9A227"/>
                </a:solidFill>
                <a:latin typeface="Calibri"/>
              </a:rPr>
              <a:t>▪  </a:t>
            </a:r>
            <a:r>
              <a:rPr sz="1500" b="1" i="0">
                <a:solidFill>
                  <a:srgbClr val="212121"/>
                </a:solidFill>
                <a:latin typeface="Calibri"/>
              </a:rPr>
              <a:t>docs/</a:t>
            </a:r>
            <a:r>
              <a:rPr sz="1500" b="0" i="0">
                <a:solidFill>
                  <a:srgbClr val="212121"/>
                </a:solidFill>
                <a:latin typeface="Calibri"/>
              </a:rPr>
              <a:t>  specification, decision records, architecture, API contract</a:t>
            </a:r>
          </a:p>
        </p:txBody>
      </p:sp>
      <p:sp>
        <p:nvSpPr>
          <p:cNvPr id="9" name="Rectangle 8"/>
          <p:cNvSpPr/>
          <p:nvPr/>
        </p:nvSpPr>
        <p:spPr>
          <a:xfrm>
            <a:off x="6537960" y="2057400"/>
            <a:ext cx="12700" cy="384048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2057400"/>
            <a:ext cx="420624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454</a:t>
            </a:r>
          </a:p>
        </p:txBody>
      </p:sp>
      <p:sp>
        <p:nvSpPr>
          <p:cNvPr id="11" name="TextBox 10"/>
          <p:cNvSpPr txBox="1"/>
          <p:nvPr/>
        </p:nvSpPr>
        <p:spPr>
          <a:xfrm>
            <a:off x="6903720" y="2587752"/>
            <a:ext cx="420624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automated tests passing</a:t>
            </a:r>
          </a:p>
        </p:txBody>
      </p:sp>
      <p:sp>
        <p:nvSpPr>
          <p:cNvPr id="12" name="TextBox 11"/>
          <p:cNvSpPr txBox="1"/>
          <p:nvPr/>
        </p:nvSpPr>
        <p:spPr>
          <a:xfrm>
            <a:off x="6903720" y="3081528"/>
            <a:ext cx="420624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49/49</a:t>
            </a:r>
          </a:p>
        </p:txBody>
      </p:sp>
      <p:sp>
        <p:nvSpPr>
          <p:cNvPr id="13" name="TextBox 12"/>
          <p:cNvSpPr txBox="1"/>
          <p:nvPr/>
        </p:nvSpPr>
        <p:spPr>
          <a:xfrm>
            <a:off x="6903720" y="3611880"/>
            <a:ext cx="420624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browser E2E tests</a:t>
            </a:r>
          </a:p>
        </p:txBody>
      </p:sp>
      <p:sp>
        <p:nvSpPr>
          <p:cNvPr id="14" name="TextBox 13"/>
          <p:cNvSpPr txBox="1"/>
          <p:nvPr/>
        </p:nvSpPr>
        <p:spPr>
          <a:xfrm>
            <a:off x="6903720" y="4105656"/>
            <a:ext cx="420624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CI</a:t>
            </a:r>
          </a:p>
        </p:txBody>
      </p:sp>
      <p:sp>
        <p:nvSpPr>
          <p:cNvPr id="15" name="TextBox 14"/>
          <p:cNvSpPr txBox="1"/>
          <p:nvPr/>
        </p:nvSpPr>
        <p:spPr>
          <a:xfrm>
            <a:off x="6903720" y="4636008"/>
            <a:ext cx="420624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runs on every push, Docker verified</a:t>
            </a:r>
          </a:p>
        </p:txBody>
      </p:sp>
      <p:sp>
        <p:nvSpPr>
          <p:cNvPr id="16" name="TextBox 15"/>
          <p:cNvSpPr txBox="1"/>
          <p:nvPr/>
        </p:nvSpPr>
        <p:spPr>
          <a:xfrm>
            <a:off x="6903720" y="5129784"/>
            <a:ext cx="4206240" cy="502920"/>
          </a:xfrm>
          <a:prstGeom prst="rect">
            <a:avLst/>
          </a:prstGeom>
          <a:noFill/>
        </p:spPr>
        <p:txBody>
          <a:bodyPr wrap="square" anchor="t">
            <a:spAutoFit/>
          </a:bodyPr>
          <a:lstStyle/>
          <a:p>
            <a:pPr algn="l">
              <a:lnSpc>
                <a:spcPct val="100000"/>
              </a:lnSpc>
              <a:spcAft>
                <a:spcPts val="600"/>
              </a:spcAft>
            </a:pPr>
            <a:r>
              <a:rPr sz="2600" b="1" i="0">
                <a:solidFill>
                  <a:srgbClr val="1F3864"/>
                </a:solidFill>
                <a:latin typeface="Calibri"/>
              </a:rPr>
              <a:t>100%</a:t>
            </a:r>
          </a:p>
        </p:txBody>
      </p:sp>
      <p:sp>
        <p:nvSpPr>
          <p:cNvPr id="17" name="TextBox 16"/>
          <p:cNvSpPr txBox="1"/>
          <p:nvPr/>
        </p:nvSpPr>
        <p:spPr>
          <a:xfrm>
            <a:off x="6903720" y="5660136"/>
            <a:ext cx="4206240" cy="548640"/>
          </a:xfrm>
          <a:prstGeom prst="rect">
            <a:avLst/>
          </a:prstGeom>
          <a:noFill/>
        </p:spPr>
        <p:txBody>
          <a:bodyPr wrap="square" anchor="t">
            <a:spAutoFit/>
          </a:bodyPr>
          <a:lstStyle/>
          <a:p>
            <a:pPr algn="l">
              <a:lnSpc>
                <a:spcPct val="100000"/>
              </a:lnSpc>
              <a:spcAft>
                <a:spcPts val="200"/>
              </a:spcAft>
            </a:pPr>
            <a:r>
              <a:rPr sz="1250" b="0" i="0">
                <a:solidFill>
                  <a:srgbClr val="666666"/>
                </a:solidFill>
                <a:latin typeface="Calibri"/>
              </a:rPr>
              <a:t>EDA reproducibility: figures regenerate identically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17352" cy="566928"/>
          </a:xfrm>
          <a:prstGeom prst="rect">
            <a:avLst/>
          </a:prstGeom>
          <a:noFill/>
        </p:spPr>
        <p:txBody>
          <a:bodyPr wrap="square" anchor="t">
            <a:spAutoFit/>
          </a:bodyPr>
          <a:lstStyle/>
          <a:p>
            <a:pPr algn="l">
              <a:lnSpc>
                <a:spcPct val="100000"/>
              </a:lnSpc>
              <a:spcAft>
                <a:spcPts val="600"/>
              </a:spcAft>
            </a:pPr>
            <a:r>
              <a:rPr sz="3000" b="1" i="0">
                <a:solidFill>
                  <a:srgbClr val="1F3864"/>
                </a:solidFill>
                <a:latin typeface="Calibri"/>
              </a:rPr>
              <a:t>Plan Toward Review 2</a:t>
            </a:r>
          </a:p>
        </p:txBody>
      </p:sp>
      <p:sp>
        <p:nvSpPr>
          <p:cNvPr id="3" name="Rectangle 2"/>
          <p:cNvSpPr/>
          <p:nvPr/>
        </p:nvSpPr>
        <p:spPr>
          <a:xfrm>
            <a:off x="685800" y="1078992"/>
            <a:ext cx="777240" cy="40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19088"/>
            <a:ext cx="10817352" cy="11430"/>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10528"/>
            <a:ext cx="7315200" cy="274320"/>
          </a:xfrm>
          <a:prstGeom prst="rect">
            <a:avLst/>
          </a:prstGeom>
          <a:noFill/>
        </p:spPr>
        <p:txBody>
          <a:bodyPr wrap="square" anchor="t">
            <a:spAutoFit/>
          </a:bodyPr>
          <a:lstStyle/>
          <a:p>
            <a:pPr algn="l">
              <a:lnSpc>
                <a:spcPct val="100000"/>
              </a:lnSpc>
              <a:spcAft>
                <a:spcPts val="600"/>
              </a:spcAft>
            </a:pPr>
            <a:r>
              <a:rPr sz="950" b="0" i="0">
                <a:solidFill>
                  <a:srgbClr val="666666"/>
                </a:solidFill>
                <a:latin typeface="Calibri"/>
              </a:rPr>
              <a:t>PropPulse  |  Project Review 1</a:t>
            </a:r>
          </a:p>
        </p:txBody>
      </p:sp>
      <p:sp>
        <p:nvSpPr>
          <p:cNvPr id="6" name="TextBox 5"/>
          <p:cNvSpPr txBox="1"/>
          <p:nvPr/>
        </p:nvSpPr>
        <p:spPr>
          <a:xfrm>
            <a:off x="10972800" y="6510528"/>
            <a:ext cx="530352" cy="274320"/>
          </a:xfrm>
          <a:prstGeom prst="rect">
            <a:avLst/>
          </a:prstGeom>
          <a:noFill/>
        </p:spPr>
        <p:txBody>
          <a:bodyPr wrap="square" anchor="t">
            <a:spAutoFit/>
          </a:bodyPr>
          <a:lstStyle/>
          <a:p>
            <a:pPr algn="r">
              <a:lnSpc>
                <a:spcPct val="100000"/>
              </a:lnSpc>
              <a:spcAft>
                <a:spcPts val="600"/>
              </a:spcAft>
            </a:pPr>
            <a:r>
              <a:rPr sz="950" b="0" i="0">
                <a:solidFill>
                  <a:srgbClr val="666666"/>
                </a:solidFill>
                <a:latin typeface="Calibri"/>
              </a:rPr>
              <a:t>12</a:t>
            </a:r>
          </a:p>
        </p:txBody>
      </p:sp>
      <p:sp>
        <p:nvSpPr>
          <p:cNvPr id="7" name="Rectangle 6"/>
          <p:cNvSpPr/>
          <p:nvPr/>
        </p:nvSpPr>
        <p:spPr>
          <a:xfrm>
            <a:off x="685800" y="1554480"/>
            <a:ext cx="3419856" cy="32918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54480"/>
            <a:ext cx="3419856" cy="330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83080"/>
            <a:ext cx="2962656" cy="457200"/>
          </a:xfrm>
          <a:prstGeom prst="rect">
            <a:avLst/>
          </a:prstGeom>
          <a:noFill/>
        </p:spPr>
        <p:txBody>
          <a:bodyPr wrap="square" anchor="t">
            <a:spAutoFit/>
          </a:bodyPr>
          <a:lstStyle/>
          <a:p>
            <a:pPr algn="l">
              <a:lnSpc>
                <a:spcPct val="100000"/>
              </a:lnSpc>
              <a:spcAft>
                <a:spcPts val="600"/>
              </a:spcAft>
            </a:pPr>
            <a:r>
              <a:rPr sz="1800" b="1" i="0">
                <a:solidFill>
                  <a:srgbClr val="2E7D32"/>
                </a:solidFill>
                <a:latin typeface="Calibri"/>
              </a:rPr>
              <a:t>Done</a:t>
            </a:r>
          </a:p>
        </p:txBody>
      </p:sp>
      <p:sp>
        <p:nvSpPr>
          <p:cNvPr id="10" name="TextBox 9"/>
          <p:cNvSpPr txBox="1"/>
          <p:nvPr/>
        </p:nvSpPr>
        <p:spPr>
          <a:xfrm>
            <a:off x="914400" y="2331720"/>
            <a:ext cx="2962656" cy="2377440"/>
          </a:xfrm>
          <a:prstGeom prst="rect">
            <a:avLst/>
          </a:prstGeom>
          <a:noFill/>
        </p:spPr>
        <p:txBody>
          <a:bodyPr wrap="square" anchor="t">
            <a:spAutoFit/>
          </a:bodyPr>
          <a:lstStyle/>
          <a:p>
            <a:pPr algn="l">
              <a:lnSpc>
                <a:spcPct val="115000"/>
              </a:lnSpc>
              <a:spcAft>
                <a:spcPts val="600"/>
              </a:spcAft>
            </a:pPr>
            <a:r>
              <a:rPr sz="1450" b="0" i="0">
                <a:solidFill>
                  <a:srgbClr val="212121"/>
                </a:solidFill>
                <a:latin typeface="Calibri"/>
              </a:rPr>
              <a:t>Problem definition; dataset cleaning and time-based split; full EDA (this review); repository with decision records, CI and tests.</a:t>
            </a:r>
          </a:p>
        </p:txBody>
      </p:sp>
      <p:sp>
        <p:nvSpPr>
          <p:cNvPr id="11" name="Rectangle 10"/>
          <p:cNvSpPr/>
          <p:nvPr/>
        </p:nvSpPr>
        <p:spPr>
          <a:xfrm>
            <a:off x="4379976" y="1554480"/>
            <a:ext cx="3419856" cy="32918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554480"/>
            <a:ext cx="3419856" cy="330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783080"/>
            <a:ext cx="2962656" cy="457200"/>
          </a:xfrm>
          <a:prstGeom prst="rect">
            <a:avLst/>
          </a:prstGeom>
          <a:noFill/>
        </p:spPr>
        <p:txBody>
          <a:bodyPr wrap="square" anchor="t">
            <a:spAutoFit/>
          </a:bodyPr>
          <a:lstStyle/>
          <a:p>
            <a:pPr algn="l">
              <a:lnSpc>
                <a:spcPct val="100000"/>
              </a:lnSpc>
              <a:spcAft>
                <a:spcPts val="600"/>
              </a:spcAft>
            </a:pPr>
            <a:r>
              <a:rPr sz="1800" b="1" i="0">
                <a:solidFill>
                  <a:srgbClr val="1F3864"/>
                </a:solidFill>
                <a:latin typeface="Calibri"/>
              </a:rPr>
              <a:t>Next</a:t>
            </a:r>
          </a:p>
        </p:txBody>
      </p:sp>
      <p:sp>
        <p:nvSpPr>
          <p:cNvPr id="14" name="TextBox 13"/>
          <p:cNvSpPr txBox="1"/>
          <p:nvPr/>
        </p:nvSpPr>
        <p:spPr>
          <a:xfrm>
            <a:off x="4608576" y="2331720"/>
            <a:ext cx="2962656" cy="2377440"/>
          </a:xfrm>
          <a:prstGeom prst="rect">
            <a:avLst/>
          </a:prstGeom>
          <a:noFill/>
        </p:spPr>
        <p:txBody>
          <a:bodyPr wrap="square" anchor="t">
            <a:spAutoFit/>
          </a:bodyPr>
          <a:lstStyle/>
          <a:p>
            <a:pPr algn="l">
              <a:lnSpc>
                <a:spcPct val="115000"/>
              </a:lnSpc>
              <a:spcAft>
                <a:spcPts val="600"/>
              </a:spcAft>
            </a:pPr>
            <a:r>
              <a:rPr sz="1450" b="0" i="0">
                <a:solidFill>
                  <a:srgbClr val="212121"/>
                </a:solidFill>
                <a:latin typeface="Calibri"/>
              </a:rPr>
              <a:t>Finalize the 94-feature pipeline. Train 5 regression and 4 classification candidates with 5-fold cross validation on train only. Select the champion on validation with a bootstrap significance test, then evaluate the sealed test set once.</a:t>
            </a:r>
          </a:p>
        </p:txBody>
      </p:sp>
      <p:sp>
        <p:nvSpPr>
          <p:cNvPr id="15" name="Rectangle 14"/>
          <p:cNvSpPr/>
          <p:nvPr/>
        </p:nvSpPr>
        <p:spPr>
          <a:xfrm>
            <a:off x="8074152" y="1554480"/>
            <a:ext cx="3419856" cy="32918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4152" y="1554480"/>
            <a:ext cx="3419856" cy="330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783080"/>
            <a:ext cx="2962656" cy="457200"/>
          </a:xfrm>
          <a:prstGeom prst="rect">
            <a:avLst/>
          </a:prstGeom>
          <a:noFill/>
        </p:spPr>
        <p:txBody>
          <a:bodyPr wrap="square" anchor="t">
            <a:spAutoFit/>
          </a:bodyPr>
          <a:lstStyle/>
          <a:p>
            <a:pPr algn="l">
              <a:lnSpc>
                <a:spcPct val="100000"/>
              </a:lnSpc>
              <a:spcAft>
                <a:spcPts val="600"/>
              </a:spcAft>
            </a:pPr>
            <a:r>
              <a:rPr sz="1800" b="1" i="0">
                <a:solidFill>
                  <a:srgbClr val="1F3864"/>
                </a:solidFill>
                <a:latin typeface="Calibri"/>
              </a:rPr>
              <a:t>Then</a:t>
            </a:r>
          </a:p>
        </p:txBody>
      </p:sp>
      <p:sp>
        <p:nvSpPr>
          <p:cNvPr id="18" name="TextBox 17"/>
          <p:cNvSpPr txBox="1"/>
          <p:nvPr/>
        </p:nvSpPr>
        <p:spPr>
          <a:xfrm>
            <a:off x="8302752" y="2331720"/>
            <a:ext cx="2962656" cy="2377440"/>
          </a:xfrm>
          <a:prstGeom prst="rect">
            <a:avLst/>
          </a:prstGeom>
          <a:noFill/>
        </p:spPr>
        <p:txBody>
          <a:bodyPr wrap="square" anchor="t">
            <a:spAutoFit/>
          </a:bodyPr>
          <a:lstStyle/>
          <a:p>
            <a:pPr algn="l">
              <a:lnSpc>
                <a:spcPct val="115000"/>
              </a:lnSpc>
              <a:spcAft>
                <a:spcPts val="600"/>
              </a:spcAft>
            </a:pPr>
            <a:r>
              <a:rPr sz="1450" b="0" i="0">
                <a:solidFill>
                  <a:srgbClr val="212121"/>
                </a:solidFill>
                <a:latin typeface="Calibri"/>
              </a:rPr>
              <a:t>SHAP artifacts, FastAPI serving, React dashboard polish, drift monitoring, Docker packaging. Stretch goal: real days-on-market data and real geocoding through the ready adapters.</a:t>
            </a:r>
          </a:p>
        </p:txBody>
      </p:sp>
      <p:sp>
        <p:nvSpPr>
          <p:cNvPr id="19" name="TextBox 18"/>
          <p:cNvSpPr txBox="1"/>
          <p:nvPr/>
        </p:nvSpPr>
        <p:spPr>
          <a:xfrm>
            <a:off x="685800" y="5349240"/>
            <a:ext cx="10817352" cy="731520"/>
          </a:xfrm>
          <a:prstGeom prst="rect">
            <a:avLst/>
          </a:prstGeom>
          <a:noFill/>
        </p:spPr>
        <p:txBody>
          <a:bodyPr wrap="square" anchor="t">
            <a:spAutoFit/>
          </a:bodyPr>
          <a:lstStyle/>
          <a:p>
            <a:pPr algn="l">
              <a:lnSpc>
                <a:spcPct val="100000"/>
              </a:lnSpc>
              <a:spcAft>
                <a:spcPts val="600"/>
              </a:spcAft>
            </a:pPr>
            <a:r>
              <a:rPr sz="2200" b="1" i="0">
                <a:solidFill>
                  <a:srgbClr val="1F3864"/>
                </a:solidFill>
                <a:latin typeface="Calibri"/>
              </a:rPr>
              <a:t>Thank you. Questions welcome.</a:t>
            </a:r>
            <a:r>
              <a:rPr sz="1400" b="0" i="0">
                <a:solidFill>
                  <a:srgbClr val="666666"/>
                </a:solidFill>
                <a:latin typeface="Calibri"/>
              </a:rPr>
              <a:t>    github.com/rushmanthnalluri/prop-pulse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